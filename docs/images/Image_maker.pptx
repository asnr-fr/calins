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293C-24A2-0F6A-F4D6-3C53B22C1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AFF6C-C3CC-2632-EB93-B80C8B2B1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53349-1F1E-C920-4025-7134E0D4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5C2C3-6D83-29E8-7DC7-CA9EFB47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2C1-A9B3-CBD5-18B4-22F9D842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57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D0D8-14F1-AACE-A002-192CF0EA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BA0C-8F74-3EE8-A8C2-657A068D4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2CBA0-D6E0-DCD8-11CB-500EA469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8D267-FAA2-8E33-B29C-9C0349DD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CFD15-D5F5-4605-1B08-FCA940CB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04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C161-C777-D194-C876-480E202EE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76A92-4C13-F76A-FC5C-8961D7078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0130E-1685-0EAD-BDE6-04686028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D0A86-E89E-FB67-273D-7AA02955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41960-CFBE-CCAD-25BD-5FCA38C6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8898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E172-041F-CD17-D70B-E893A277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2CC3-E06D-80D2-931C-B9A8EA520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E2E93-0BE9-7A6A-D3DF-81A55D41B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2460F-C013-859D-66B2-A5A743F8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9903-9B78-C2D2-F5DF-42C2DBD3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33BB2-7585-C5B3-4BB6-2908A869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07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56CA-38AD-420B-0BFB-A0BC36A2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6D5CF-631D-C223-C8DF-6922EB35F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FA626-1D42-E7EA-B3BA-1743A010E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C766C-C1F4-828F-8AFF-CCF7A06D2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CC016-5400-0D88-8E65-19D191EF2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3380D-1608-27E3-3E33-53E4AE70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BFB5D-CDBF-217D-FE64-7958AA2A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657F1-4A0E-3AE3-854C-3E648F9C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99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C7E9-FDD4-72DC-F44E-6A0EE383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59316-C40D-A241-707C-41736084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900D6-3372-5856-B8ED-E618E2D4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3A837-61D7-5639-CC52-6E93239A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40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B3E1E-538C-5267-9D7E-E829E94C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D6D6C-055B-9736-39EE-11130DCA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08D87-4F17-489C-758E-F9FF3740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0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E017-BF80-6BEB-9352-5737A4E3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19DA-0B29-B68C-80BF-6CACCA8B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70CAE-E281-4889-B479-EA1C43EB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C3B8D-FFE8-D03C-81E0-5D9F7DC8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84157-56A5-19C5-A59C-EDC456E8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A7B50-86FF-8AC7-5DD3-5079DCB9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24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4597-AEDD-7D1D-20DD-704F4F97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A194D-A9D5-1C85-2109-AC4A23446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649F6-E546-3BAA-1C1C-8E0122115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6D660-64D2-B815-A6B1-6B89A0F7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4CC23-6890-5A80-5C6F-900F0547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D983D-DEEA-A173-00A9-B5990192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6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EC5A-756A-BB29-46FE-FE52CA00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982D9-F63C-3CD7-81F6-8496567B7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E6217-E182-DA4B-B499-125C14B1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9130-9B9B-6650-0ED0-0308FEF0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047FB-2BDE-A1CE-C990-873E19EB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16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9F981-0A6A-2890-D4F3-D3AC3B4FD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14604-8273-D0FE-C4AB-23AE028BC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9545F-F84A-71D9-48E8-CF21383D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B96CB-4384-1749-5414-741CE79A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7A0A-DE1A-55B8-BC1C-74F64980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04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45598-196D-DEF9-C885-43FE7A25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DD598-6BBD-69DC-432D-F08C2B468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04B0-782E-7F3C-7C7C-02EB96CE5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2C574-8341-433E-8278-D812E3904DB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4250-553B-2CF3-62DD-8E5155EDB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0C7A8-A865-F537-DFA6-782671162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38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9E693C86-ED5E-204B-8725-2E8D9834A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806983"/>
                  </p:ext>
                </p:extLst>
              </p:nvPr>
            </p:nvGraphicFramePr>
            <p:xfrm>
              <a:off x="2082879" y="1320394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9E693C86-ED5E-204B-8725-2E8D9834A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806983"/>
                  </p:ext>
                </p:extLst>
              </p:nvPr>
            </p:nvGraphicFramePr>
            <p:xfrm>
              <a:off x="2082879" y="1320394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100000" t="-1163" r="-884112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01887" t="-1163" r="-792453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301887" t="-1163" r="-692453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597196" t="-1163" r="-386916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703774" t="-1163" r="-290566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803774" t="-1163" r="-190566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896108C-CF1D-F0C6-3900-DE7A999FB0E0}"/>
              </a:ext>
            </a:extLst>
          </p:cNvPr>
          <p:cNvSpPr txBox="1"/>
          <p:nvPr/>
        </p:nvSpPr>
        <p:spPr>
          <a:xfrm>
            <a:off x="4398672" y="267064"/>
            <a:ext cx="2576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sensitivity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vector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8D9F981-FB89-D779-70E9-C4DCDDECA1E5}"/>
              </a:ext>
            </a:extLst>
          </p:cNvPr>
          <p:cNvSpPr/>
          <p:nvPr/>
        </p:nvSpPr>
        <p:spPr>
          <a:xfrm rot="5400000">
            <a:off x="3386656" y="558339"/>
            <a:ext cx="607583" cy="32151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1B3A8F-7813-78DF-EFC4-4F9994DA8B01}"/>
                  </a:ext>
                </a:extLst>
              </p:cNvPr>
              <p:cNvSpPr txBox="1"/>
              <p:nvPr/>
            </p:nvSpPr>
            <p:spPr>
              <a:xfrm>
                <a:off x="1992139" y="2503039"/>
                <a:ext cx="3250698" cy="655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sub-vector</a:t>
                </a:r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fr-FR" i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sensitivities</a:t>
                </a:r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for a isotope i and a </a:t>
                </a:r>
                <a:r>
                  <a:rPr lang="fr-FR" i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r.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1B3A8F-7813-78DF-EFC4-4F9994DA8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139" y="2503039"/>
                <a:ext cx="3250698" cy="655244"/>
              </a:xfrm>
              <a:prstGeom prst="rect">
                <a:avLst/>
              </a:prstGeom>
              <a:blipFill>
                <a:blip r:embed="rId3"/>
                <a:stretch>
                  <a:fillRect l="-1689" t="-4673" r="-563" b="-14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344104-5635-E0BC-272D-7C67979DC373}"/>
                  </a:ext>
                </a:extLst>
              </p:cNvPr>
              <p:cNvSpPr txBox="1"/>
              <p:nvPr/>
            </p:nvSpPr>
            <p:spPr>
              <a:xfrm>
                <a:off x="6442506" y="2577594"/>
                <a:ext cx="837473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344104-5635-E0BC-272D-7C67979DC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506" y="2577594"/>
                <a:ext cx="837473" cy="378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/>
              <p:nvPr/>
            </p:nvSpPr>
            <p:spPr>
              <a:xfrm>
                <a:off x="2751288" y="3789170"/>
                <a:ext cx="6230342" cy="18421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fr-FR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𝑟𝑒𝑠𝑝</m:t>
                        </m:r>
                      </m:num>
                      <m:den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kern="10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𝑁𝐷</m:t>
                            </m:r>
                          </m:e>
                          <m:sub>
                            <m: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variation of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response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(∆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resp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) </a:t>
                </a:r>
                <a:r>
                  <a:rPr lang="fr-FR" sz="18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induced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by the variation of the ND (∆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fr-FR" sz="18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too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r for isotope i, 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ergy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isotope 0 to I, r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0 to R, and g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0 to G.</a:t>
                </a:r>
                <a:endParaRPr lang="fr-FR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288" y="3789170"/>
                <a:ext cx="6230342" cy="1842107"/>
              </a:xfrm>
              <a:prstGeom prst="rect">
                <a:avLst/>
              </a:prstGeom>
              <a:blipFill>
                <a:blip r:embed="rId5"/>
                <a:stretch>
                  <a:fillRect r="-195" b="-2961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46BE1195-33B1-AE84-E596-3DBE24980B98}"/>
                  </a:ext>
                </a:extLst>
              </p:cNvPr>
              <p:cNvSpPr txBox="1"/>
              <p:nvPr/>
            </p:nvSpPr>
            <p:spPr>
              <a:xfrm>
                <a:off x="8439288" y="2200591"/>
                <a:ext cx="3902544" cy="63921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 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1D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: Total </a:t>
                </a:r>
                <a:r>
                  <a:rPr lang="fr-FR" sz="14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number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of isotope-</a:t>
                </a:r>
                <a:r>
                  <a:rPr lang="fr-FR" sz="14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reaction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pairs	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46BE1195-33B1-AE84-E596-3DBE2498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288" y="2200591"/>
                <a:ext cx="3902544" cy="639214"/>
              </a:xfrm>
              <a:prstGeom prst="rect">
                <a:avLst/>
              </a:prstGeom>
              <a:blipFill>
                <a:blip r:embed="rId6"/>
                <a:stretch>
                  <a:fillRect t="-2857" b="-761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7">
            <a:extLst>
              <a:ext uri="{FF2B5EF4-FFF2-40B4-BE49-F238E27FC236}">
                <a16:creationId xmlns:a16="http://schemas.microsoft.com/office/drawing/2014/main" id="{9656804D-A796-A82C-930E-4D742560FC3A}"/>
              </a:ext>
            </a:extLst>
          </p:cNvPr>
          <p:cNvSpPr/>
          <p:nvPr/>
        </p:nvSpPr>
        <p:spPr>
          <a:xfrm rot="5400000">
            <a:off x="6557452" y="727006"/>
            <a:ext cx="607583" cy="29399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22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023807"/>
                  </p:ext>
                </p:extLst>
              </p:nvPr>
            </p:nvGraphicFramePr>
            <p:xfrm>
              <a:off x="2719703" y="1107508"/>
              <a:ext cx="6692900" cy="200829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8580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023807"/>
                  </p:ext>
                </p:extLst>
              </p:nvPr>
            </p:nvGraphicFramePr>
            <p:xfrm>
              <a:off x="2719703" y="1107508"/>
              <a:ext cx="6692900" cy="200829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8580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3030" r="-300000" b="-3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13" t="-103030" r="-201370" b="-3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545" t="-103030" r="-100455" b="-3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0000" r="-300000" b="-2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13" t="-200000" r="-201370" b="-2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545" t="-200000" r="-100455" b="-2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04545" r="-300000" b="-1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13" t="-304545" r="-201370" b="-1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545" t="-304545" r="-100455" b="-1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56E36-EB40-FB21-505A-109AAA758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558639"/>
              </p:ext>
            </p:extLst>
          </p:nvPr>
        </p:nvGraphicFramePr>
        <p:xfrm>
          <a:off x="5009804" y="224028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012921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2679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/>
              <p:nvPr/>
            </p:nvSpPr>
            <p:spPr>
              <a:xfrm>
                <a:off x="1988993" y="3262251"/>
                <a:ext cx="8214014" cy="2349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(i,r,g)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horizontal index running over each energy group, for all isotope–reaction pairs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(i,r) ;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(i,r,g) 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vertical index running over each energy group, for all isotope–reaction pairs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(i,r) ;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e>
                      <m:sub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b>
                      <m:sup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(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correlation factor between the uncertainties of the ND of reaction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600" i="1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and réaction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i</a:t>
                </a:r>
                <a:r>
                  <a:rPr lang="fr-FR" sz="1600" i="1" kern="1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. Note: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= 1 ;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when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h=v.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993" y="3262251"/>
                <a:ext cx="8214014" cy="2349554"/>
              </a:xfrm>
              <a:prstGeom prst="rect">
                <a:avLst/>
              </a:prstGeom>
              <a:blipFill>
                <a:blip r:embed="rId3"/>
                <a:stretch>
                  <a:fillRect t="-773" r="-444" b="-180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4496653" y="348315"/>
            <a:ext cx="2884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Corr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correlation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327A305E-53B1-A837-9B59-4D623C4FFDFE}"/>
                  </a:ext>
                </a:extLst>
              </p:cNvPr>
              <p:cNvSpPr txBox="1"/>
              <p:nvPr/>
            </p:nvSpPr>
            <p:spPr>
              <a:xfrm>
                <a:off x="9170159" y="2882789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| I</a:t>
                </a:r>
                <a:r>
                  <a:rPr lang="fr-FR" sz="1400" kern="100" baseline="30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327A305E-53B1-A837-9B59-4D623C4FF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159" y="2882789"/>
                <a:ext cx="3207372" cy="306238"/>
              </a:xfrm>
              <a:prstGeom prst="rect">
                <a:avLst/>
              </a:prstGeom>
              <a:blipFill>
                <a:blip r:embed="rId4"/>
                <a:stretch>
                  <a:fillRect t="-6000" b="-2000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51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893827"/>
                  </p:ext>
                </p:extLst>
              </p:nvPr>
            </p:nvGraphicFramePr>
            <p:xfrm>
              <a:off x="2751187" y="1105731"/>
              <a:ext cx="6689625" cy="1997583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7925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893827"/>
                  </p:ext>
                </p:extLst>
              </p:nvPr>
            </p:nvGraphicFramePr>
            <p:xfrm>
              <a:off x="2751187" y="1105731"/>
              <a:ext cx="6689625" cy="1997583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7925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4017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7" t="-106061" r="-301370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45" t="-106061" r="-200000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13" t="-106061" r="-100913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4017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7" t="-202985" r="-301370" b="-2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45" t="-202985" r="-200000" b="-2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13" t="-202985" r="-100913" b="-2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4017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7" t="-307576" r="-30137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45" t="-307576" r="-200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13" t="-307576" r="-100913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56E36-EB40-FB21-505A-109AAA7580C5}"/>
              </a:ext>
            </a:extLst>
          </p:cNvPr>
          <p:cNvGraphicFramePr>
            <a:graphicFrameLocks noGrp="1"/>
          </p:cNvGraphicFramePr>
          <p:nvPr/>
        </p:nvGraphicFramePr>
        <p:xfrm>
          <a:off x="4168140" y="2240280"/>
          <a:ext cx="1059180" cy="365760"/>
        </p:xfrm>
        <a:graphic>
          <a:graphicData uri="http://schemas.openxmlformats.org/drawingml/2006/table">
            <a:tbl>
              <a:tblPr/>
              <a:tblGrid>
                <a:gridCol w="1059180">
                  <a:extLst>
                    <a:ext uri="{9D8B030D-6E8A-4147-A177-3AD203B41FA5}">
                      <a16:colId xmlns:a16="http://schemas.microsoft.com/office/drawing/2014/main" val="3012921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2679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/>
              <p:nvPr/>
            </p:nvSpPr>
            <p:spPr>
              <a:xfrm>
                <a:off x="921509" y="3549642"/>
                <a:ext cx="10650855" cy="269798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(i,r,g)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horizontal index running over each energy group, for all isotope–reaction pairs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i,r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(i,r,g)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vertical index running over each energy group, for all isotope–reaction pairs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i,r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p>
                                    <m:sSupPr>
                                      <m:ctrlP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𝑐𝑜𝑣</m:t>
                                      </m:r>
                                    </m:e>
                                    <m:sup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,   </m:t>
                                      </m:r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p>
                                  </m:s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𝑁𝐷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𝑁𝐷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</m:oMath>
                  </m:oMathPara>
                </a14:m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𝑐𝑜𝑣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b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𝑐𝑜𝑣</m:t>
                        </m:r>
                      </m:e>
                      <m:sub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b>
                      <m:sup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(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covariance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between the uncertainties of the ND of reaction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and réaction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i</a:t>
                </a:r>
                <a:r>
                  <a:rPr lang="fr-FR" sz="1600" i="1" kern="1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. Note: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𝑐𝑜𝑣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𝑁𝐷</m:t>
                            </m:r>
                          </m:sub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𝑁𝐷</m:t>
                            </m:r>
                          </m:sub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bSup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𝑣𝑎𝑟𝑖𝑎𝑛𝑐𝑒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; 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when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h=v.</a:t>
                </a:r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𝑁𝐷</m:t>
                            </m:r>
                          </m:sub>
                        </m:sSub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sSup>
                      <m:sSupPr>
                        <m:ctrlP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𝑁𝐷</m:t>
                            </m:r>
                          </m:sub>
                        </m:sSub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sSubSup>
                      <m:sSubSupPr>
                        <m:ctrlPr>
                          <a:rPr lang="fr-FR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𝑁𝐷</m:t>
                            </m:r>
                          </m:sub>
                        </m:sSub>
                      </m:e>
                      <m:sub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  </m:t>
                        </m:r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relative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uncertatiny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fr-FR" sz="16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 on ND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of isotope 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i, in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g.</a:t>
                </a:r>
                <a:r>
                  <a:rPr lang="fr-FR" sz="12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09" y="3549642"/>
                <a:ext cx="10650855" cy="2697983"/>
              </a:xfrm>
              <a:prstGeom prst="rect">
                <a:avLst/>
              </a:prstGeom>
              <a:blipFill>
                <a:blip r:embed="rId3"/>
                <a:stretch>
                  <a:fillRect t="-67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4316810" y="245388"/>
            <a:ext cx="3817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Cov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variances-covariances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F85D1-5B82-5E59-1313-D507C76043FD}"/>
              </a:ext>
            </a:extLst>
          </p:cNvPr>
          <p:cNvSpPr/>
          <p:nvPr/>
        </p:nvSpPr>
        <p:spPr>
          <a:xfrm>
            <a:off x="4701309" y="4599709"/>
            <a:ext cx="2909455" cy="5634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18F4BE9-058F-EC13-FC20-439927A449F6}"/>
                  </a:ext>
                </a:extLst>
              </p:cNvPr>
              <p:cNvSpPr txBox="1"/>
              <p:nvPr/>
            </p:nvSpPr>
            <p:spPr>
              <a:xfrm>
                <a:off x="9183411" y="3122762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| I</a:t>
                </a:r>
                <a:r>
                  <a:rPr lang="fr-FR" sz="1400" kern="100" baseline="30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18F4BE9-058F-EC13-FC20-439927A44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11" y="3122762"/>
                <a:ext cx="3207372" cy="306238"/>
              </a:xfrm>
              <a:prstGeom prst="rect">
                <a:avLst/>
              </a:prstGeom>
              <a:blipFill>
                <a:blip r:embed="rId4"/>
                <a:stretch>
                  <a:fillRect t="-3922" b="-19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98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3524575" y="369101"/>
            <a:ext cx="3817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Cov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variances-covariances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698F51-A157-2002-1F39-D8D70D861721}"/>
                  </a:ext>
                </a:extLst>
              </p:cNvPr>
              <p:cNvSpPr txBox="1"/>
              <p:nvPr/>
            </p:nvSpPr>
            <p:spPr>
              <a:xfrm>
                <a:off x="2856180" y="2017888"/>
                <a:ext cx="7403501" cy="2303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698F51-A157-2002-1F39-D8D70D861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180" y="2017888"/>
                <a:ext cx="7403501" cy="2303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2253D843-FE56-C5CA-2890-384B3867E555}"/>
              </a:ext>
            </a:extLst>
          </p:cNvPr>
          <p:cNvSpPr/>
          <p:nvPr/>
        </p:nvSpPr>
        <p:spPr>
          <a:xfrm rot="5400000">
            <a:off x="4512580" y="2991925"/>
            <a:ext cx="257174" cy="31486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565E-6505-61CE-4150-BB8E3154081B}"/>
              </a:ext>
            </a:extLst>
          </p:cNvPr>
          <p:cNvSpPr txBox="1"/>
          <p:nvPr/>
        </p:nvSpPr>
        <p:spPr>
          <a:xfrm>
            <a:off x="3143225" y="4803742"/>
            <a:ext cx="30722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Cov</a:t>
            </a:r>
            <a:r>
              <a:rPr lang="fr-FR" i="1" baseline="30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(0,0), (I,R)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variances-covariances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sub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-matrix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between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the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reaction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0 of isotope 0 and the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reaction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 of isotope I.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9086208-A646-AD5D-3EE0-8392E14B1F90}"/>
              </a:ext>
            </a:extLst>
          </p:cNvPr>
          <p:cNvSpPr txBox="1"/>
          <p:nvPr/>
        </p:nvSpPr>
        <p:spPr>
          <a:xfrm>
            <a:off x="3671793" y="1516686"/>
            <a:ext cx="5970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(0, 0)	 	…	  	(I, R)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FF8F3B8-7104-FA75-38BF-DB6F57ECEEC8}"/>
              </a:ext>
            </a:extLst>
          </p:cNvPr>
          <p:cNvSpPr txBox="1"/>
          <p:nvPr/>
        </p:nvSpPr>
        <p:spPr>
          <a:xfrm>
            <a:off x="2084408" y="2430917"/>
            <a:ext cx="7168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(0, 0)</a:t>
            </a:r>
          </a:p>
          <a:p>
            <a:pPr algn="ctr"/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…</a:t>
            </a:r>
          </a:p>
          <a:p>
            <a:pPr algn="ctr"/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(I, R)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FC8E838-7A04-1AB9-9EC4-FFA523F83CB5}"/>
              </a:ext>
            </a:extLst>
          </p:cNvPr>
          <p:cNvSpPr txBox="1"/>
          <p:nvPr/>
        </p:nvSpPr>
        <p:spPr>
          <a:xfrm>
            <a:off x="2064700" y="144204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(i, 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C1800F-7825-EC04-2E72-6DAA39A18645}"/>
              </a:ext>
            </a:extLst>
          </p:cNvPr>
          <p:cNvSpPr/>
          <p:nvPr/>
        </p:nvSpPr>
        <p:spPr>
          <a:xfrm>
            <a:off x="2064700" y="1442042"/>
            <a:ext cx="653532" cy="380257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730C89CE-EB3C-0E9D-0CF4-031133840031}"/>
              </a:ext>
            </a:extLst>
          </p:cNvPr>
          <p:cNvSpPr/>
          <p:nvPr/>
        </p:nvSpPr>
        <p:spPr>
          <a:xfrm>
            <a:off x="2375966" y="3882013"/>
            <a:ext cx="119932" cy="380257"/>
          </a:xfrm>
          <a:prstGeom prst="downArrow">
            <a:avLst>
              <a:gd name="adj1" fmla="val 50000"/>
              <a:gd name="adj2" fmla="val 11756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585741CC-F57A-3BED-5BB2-1D4C37B1F641}"/>
              </a:ext>
            </a:extLst>
          </p:cNvPr>
          <p:cNvSpPr/>
          <p:nvPr/>
        </p:nvSpPr>
        <p:spPr>
          <a:xfrm rot="16200000">
            <a:off x="9349576" y="1151105"/>
            <a:ext cx="168443" cy="1152092"/>
          </a:xfrm>
          <a:prstGeom prst="downArrow">
            <a:avLst>
              <a:gd name="adj1" fmla="val 50000"/>
              <a:gd name="adj2" fmla="val 11756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8364741-4E78-1887-B9AC-1AF2108119B3}"/>
              </a:ext>
            </a:extLst>
          </p:cNvPr>
          <p:cNvSpPr txBox="1"/>
          <p:nvPr/>
        </p:nvSpPr>
        <p:spPr>
          <a:xfrm>
            <a:off x="3671793" y="1253910"/>
            <a:ext cx="597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u="sng" spc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isotope-</a:t>
            </a:r>
            <a:r>
              <a:rPr lang="fr-FR" sz="1400" u="sng" spc="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reaction</a:t>
            </a:r>
            <a:r>
              <a:rPr lang="fr-FR" sz="1400" u="sng" spc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1400" u="sng" spc="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fr-FR" sz="1400" u="sng" spc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38D5F5E1-F2AF-F5C3-9907-28355DD6FC52}"/>
              </a:ext>
            </a:extLst>
          </p:cNvPr>
          <p:cNvSpPr txBox="1"/>
          <p:nvPr/>
        </p:nvSpPr>
        <p:spPr>
          <a:xfrm rot="16200000">
            <a:off x="451645" y="3048029"/>
            <a:ext cx="3058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isotope-</a:t>
            </a:r>
            <a:r>
              <a:rPr lang="fr-FR" sz="14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reaction</a:t>
            </a:r>
            <a:r>
              <a:rPr lang="fr-FR" sz="14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14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fr-FR" sz="14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B37394-4CFF-8337-DCCA-FBEA6959FB65}"/>
              </a:ext>
            </a:extLst>
          </p:cNvPr>
          <p:cNvSpPr/>
          <p:nvPr/>
        </p:nvSpPr>
        <p:spPr>
          <a:xfrm>
            <a:off x="6809441" y="1694851"/>
            <a:ext cx="1326777" cy="74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1B513A-CE35-34AA-63F0-BAE7DF88B66B}"/>
              </a:ext>
            </a:extLst>
          </p:cNvPr>
          <p:cNvSpPr/>
          <p:nvPr/>
        </p:nvSpPr>
        <p:spPr>
          <a:xfrm>
            <a:off x="5155447" y="1686020"/>
            <a:ext cx="1152094" cy="74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8A7482-8B61-FCA8-9287-A7E069E395FC}"/>
              </a:ext>
            </a:extLst>
          </p:cNvPr>
          <p:cNvSpPr/>
          <p:nvPr/>
        </p:nvSpPr>
        <p:spPr>
          <a:xfrm>
            <a:off x="2721282" y="1677170"/>
            <a:ext cx="1806768" cy="74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D17877-130D-9B0E-7962-C90582B4ABB3}"/>
              </a:ext>
            </a:extLst>
          </p:cNvPr>
          <p:cNvSpPr/>
          <p:nvPr/>
        </p:nvSpPr>
        <p:spPr>
          <a:xfrm rot="5400000">
            <a:off x="2141178" y="2080511"/>
            <a:ext cx="586771" cy="703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F23221-91C6-1488-DB5B-5D4B7719BB24}"/>
              </a:ext>
            </a:extLst>
          </p:cNvPr>
          <p:cNvSpPr/>
          <p:nvPr/>
        </p:nvSpPr>
        <p:spPr>
          <a:xfrm rot="5400000">
            <a:off x="2287525" y="2937510"/>
            <a:ext cx="302903" cy="615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6FBCA8-71CC-5DFD-E1F4-3A187AFD0F8E}"/>
              </a:ext>
            </a:extLst>
          </p:cNvPr>
          <p:cNvSpPr/>
          <p:nvPr/>
        </p:nvSpPr>
        <p:spPr>
          <a:xfrm rot="5400000">
            <a:off x="2326635" y="3433488"/>
            <a:ext cx="232411" cy="615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22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6108C-CF1D-F0C6-3900-DE7A999FB0E0}"/>
              </a:ext>
            </a:extLst>
          </p:cNvPr>
          <p:cNvSpPr txBox="1"/>
          <p:nvPr/>
        </p:nvSpPr>
        <p:spPr>
          <a:xfrm>
            <a:off x="3175635" y="781050"/>
            <a:ext cx="543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Δk</a:t>
            </a:r>
            <a:r>
              <a:rPr lang="fr-FR" sz="2800" b="1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C-E bench</a:t>
            </a:r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experimental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C-E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vector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/>
              <p:nvPr/>
            </p:nvSpPr>
            <p:spPr>
              <a:xfrm>
                <a:off x="2726106" y="3121347"/>
                <a:ext cx="6096000" cy="12755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fr-FR" i="1" dirty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𝑟𝑒𝑠𝑝</m:t>
                        </m:r>
                      </m:e>
                      <m:sup>
                        <m:r>
                          <a:rPr lang="fr-FR" i="1" dirty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80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sz="18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𝑟𝑒𝑠𝑝</m:t>
                            </m:r>
                          </m:e>
                          <m:sup>
                            <m:r>
                              <a:rPr lang="fr-FR" sz="18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𝑐𝑎𝑙𝑐</m:t>
                            </m:r>
                          </m:sup>
                        </m:sSup>
                        <m:r>
                          <a:rPr lang="fr-FR" sz="18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𝑟𝑒𝑠𝑝</m:t>
                            </m:r>
                          </m:e>
                          <m:sup>
                            <m:r>
                              <a:rPr lang="fr-FR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𝑒𝑥𝑝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𝑟𝑒𝑠𝑝</m:t>
                            </m:r>
                          </m:e>
                          <m:sup>
                            <m: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𝑐𝑎𝑙𝑐</m:t>
                            </m:r>
                          </m:sup>
                        </m:sSup>
                      </m:den>
                    </m:f>
                  </m:oMath>
                </a14:m>
                <a:r>
                  <a:rPr lang="fr-FR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relativ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discrepancy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calculated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experimental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response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fr-FR" i="1" kern="1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j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benchmark case 0 to J.</a:t>
                </a:r>
                <a:endParaRPr lang="fr-FR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106" y="3121347"/>
                <a:ext cx="6096000" cy="1275542"/>
              </a:xfrm>
              <a:prstGeom prst="rect">
                <a:avLst/>
              </a:prstGeom>
              <a:blipFill>
                <a:blip r:embed="rId2"/>
                <a:stretch>
                  <a:fillRect b="-6161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206EE5C7-97E6-7BF0-1634-F5B0E16E1119}"/>
                  </a:ext>
                </a:extLst>
              </p:cNvPr>
              <p:cNvSpPr txBox="1"/>
              <p:nvPr/>
            </p:nvSpPr>
            <p:spPr>
              <a:xfrm>
                <a:off x="7123735" y="2433199"/>
                <a:ext cx="1698371" cy="53662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 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1D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J	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206EE5C7-97E6-7BF0-1634-F5B0E16E1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735" y="2433199"/>
                <a:ext cx="1698371" cy="536622"/>
              </a:xfrm>
              <a:prstGeom prst="rect">
                <a:avLst/>
              </a:prstGeom>
              <a:blipFill>
                <a:blip r:embed="rId3"/>
                <a:stretch>
                  <a:fillRect t="-340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EC367114-73A6-CF74-EAD2-41F8724D3D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6715427"/>
                  </p:ext>
                </p:extLst>
              </p:nvPr>
            </p:nvGraphicFramePr>
            <p:xfrm>
              <a:off x="2841637" y="1771721"/>
              <a:ext cx="5121265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06400" dist="571500">
                        <a:schemeClr val="bg1"/>
                      </a:innerShdw>
                    </a:effectLst>
                  </a:tblPr>
                  <a:tblGrid>
                    <a:gridCol w="1024253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1800" b="0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fr-FR" sz="1800" b="0" i="1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𝑟𝑒𝑠𝑝</m:t>
                                    </m:r>
                                  </m:e>
                                  <m:sup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1800" b="0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fr-FR" sz="1800" b="0" i="1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𝑟𝑒𝑠𝑝</m:t>
                                    </m:r>
                                  </m:e>
                                  <m:sup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1800" b="0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fr-FR" sz="1800" b="0" i="1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𝑟𝑒𝑠𝑝</m:t>
                                    </m:r>
                                  </m:e>
                                  <m:sup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EC367114-73A6-CF74-EAD2-41F8724D3D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6715427"/>
                  </p:ext>
                </p:extLst>
              </p:nvPr>
            </p:nvGraphicFramePr>
            <p:xfrm>
              <a:off x="2841637" y="1771721"/>
              <a:ext cx="5121265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06400" dist="571500">
                        <a:schemeClr val="bg1"/>
                      </a:innerShdw>
                    </a:effectLst>
                  </a:tblPr>
                  <a:tblGrid>
                    <a:gridCol w="1024253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101190" t="-1163" r="-30119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200000" t="-1163" r="-199408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301786" t="-1163" r="-100595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78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1742299"/>
                  </p:ext>
                </p:extLst>
              </p:nvPr>
            </p:nvGraphicFramePr>
            <p:xfrm>
              <a:off x="3635447" y="816267"/>
              <a:ext cx="4464284" cy="3685784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{D7AC3CCA-C797-4891-BE02-D94E43425B78}</a:tableStyleId>
                  </a:tblPr>
                  <a:tblGrid>
                    <a:gridCol w="1116071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</a:tblGrid>
                  <a:tr h="903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𝑒𝑥𝑝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𝑟𝑒𝑠𝑝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𝑐𝑎𝑙𝑐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𝑒𝑥𝑝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+1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𝑟𝑒𝑠𝑝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𝑐𝑎𝑙𝑐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+1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fr-FR" sz="180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1742299"/>
                  </p:ext>
                </p:extLst>
              </p:nvPr>
            </p:nvGraphicFramePr>
            <p:xfrm>
              <a:off x="3635447" y="816267"/>
              <a:ext cx="4464284" cy="3685784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{D7AC3CCA-C797-4891-BE02-D94E43425B78}</a:tableStyleId>
                  </a:tblPr>
                  <a:tblGrid>
                    <a:gridCol w="1116071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</a:tblGrid>
                  <a:tr h="903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93916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457" t="-96753" r="-199457" b="-197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93916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6" t="-196753" r="-100546" b="-97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56E36-EB40-FB21-505A-109AAA758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103668"/>
              </p:ext>
            </p:extLst>
          </p:nvPr>
        </p:nvGraphicFramePr>
        <p:xfrm>
          <a:off x="4171719" y="2491160"/>
          <a:ext cx="895581" cy="365760"/>
        </p:xfrm>
        <a:graphic>
          <a:graphicData uri="http://schemas.openxmlformats.org/drawingml/2006/table">
            <a:tbl>
              <a:tblPr/>
              <a:tblGrid>
                <a:gridCol w="895581">
                  <a:extLst>
                    <a:ext uri="{9D8B030D-6E8A-4147-A177-3AD203B41FA5}">
                      <a16:colId xmlns:a16="http://schemas.microsoft.com/office/drawing/2014/main" val="3012921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2679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06EEF5-CD62-B702-7DF6-0F2E3C08F148}"/>
              </a:ext>
            </a:extLst>
          </p:cNvPr>
          <p:cNvSpPr txBox="1"/>
          <p:nvPr/>
        </p:nvSpPr>
        <p:spPr>
          <a:xfrm>
            <a:off x="8567762" y="1994623"/>
            <a:ext cx="3455914" cy="10624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i="1" kern="1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Symetric</a:t>
            </a: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matrix</a:t>
            </a:r>
          </a:p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 : index </a:t>
            </a:r>
            <a:r>
              <a:rPr lang="fr-FR" i="1" kern="1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going</a:t>
            </a: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over all benchmark cases </a:t>
            </a:r>
            <a:r>
              <a:rPr lang="fr-FR" i="1" kern="1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from</a:t>
            </a: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0 to J.</a:t>
            </a:r>
            <a:endParaRPr lang="fr-FR" sz="2000" i="1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FECDB8A3-6397-07E5-D7E7-F46B12588DAD}"/>
                  </a:ext>
                </a:extLst>
              </p:cNvPr>
              <p:cNvSpPr txBox="1"/>
              <p:nvPr/>
            </p:nvSpPr>
            <p:spPr>
              <a:xfrm>
                <a:off x="444689" y="4699677"/>
                <a:ext cx="11302621" cy="2067516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This matrix can incorporate the correlation factors between experiments, making the non-diagonal elements equal to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140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𝑒𝑥𝑝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𝑟𝑒𝑠𝑝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𝑒𝑥𝑝</m:t>
                            </m:r>
                          </m:sub>
                          <m:sup>
                            <m: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den>
                    </m:f>
                    <m:r>
                      <a:rPr lang="fr-F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𝑒𝑥𝑝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𝑟𝑒𝑠𝑝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𝑒𝑥𝑝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bSup>
                      </m:den>
                    </m:f>
                  </m:oMath>
                </a14:m>
                <a:endParaRPr lang="en-US" sz="1400" i="1" kern="1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The theory described in the SCALE 6.3.1 user manual (Section 6.8.4.2) indicates the presence of a diagonal (“E/C”) matrix on both sides of the experimental uncertainty matrix, thereby transforming its terms into experimental uncertainties relative to the calculated response</a:t>
                </a:r>
                <a:r>
                  <a:rPr lang="fr-FR" sz="1400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400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𝑟𝑒𝑠𝑝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fr-FR" sz="1400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400" i="1" kern="1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fr-FR" sz="1400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FR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fr-FR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𝑟𝑒𝑠𝑝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𝑐𝑎𝑙𝑐</m:t>
                                </m:r>
                              </m:sub>
                              <m:sup>
                                <m:r>
                                  <a:rPr lang="fr-FR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fr-FR" sz="16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FECDB8A3-6397-07E5-D7E7-F46B12588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89" y="4699677"/>
                <a:ext cx="11302621" cy="206751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que 4" descr="Avertissement avec un remplissage uni">
            <a:extLst>
              <a:ext uri="{FF2B5EF4-FFF2-40B4-BE49-F238E27FC236}">
                <a16:creationId xmlns:a16="http://schemas.microsoft.com/office/drawing/2014/main" id="{C0049758-991A-3252-7624-BE7DBEBD4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379" y="4253475"/>
            <a:ext cx="647700" cy="647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3BB2D26-D2FD-6A9E-42C9-A16B5AB9FB32}"/>
                  </a:ext>
                </a:extLst>
              </p:cNvPr>
              <p:cNvSpPr txBox="1"/>
              <p:nvPr/>
            </p:nvSpPr>
            <p:spPr>
              <a:xfrm>
                <a:off x="7959817" y="4393439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J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| J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3BB2D26-D2FD-6A9E-42C9-A16B5AB9F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817" y="4393439"/>
                <a:ext cx="3207372" cy="306238"/>
              </a:xfrm>
              <a:prstGeom prst="rect">
                <a:avLst/>
              </a:prstGeom>
              <a:blipFill>
                <a:blip r:embed="rId6"/>
                <a:stretch>
                  <a:fillRect t="-6000" b="-2000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3348502" y="86002"/>
            <a:ext cx="5377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fr-FR" sz="2800" b="1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bench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experimental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response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uncertainty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353558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8DE10622-9BE2-94D3-77D0-4A7DDF060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6694371"/>
                  </p:ext>
                </p:extLst>
              </p:nvPr>
            </p:nvGraphicFramePr>
            <p:xfrm>
              <a:off x="2009113" y="883883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8DE10622-9BE2-94D3-77D0-4A7DDF060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6694371"/>
                  </p:ext>
                </p:extLst>
              </p:nvPr>
            </p:nvGraphicFramePr>
            <p:xfrm>
              <a:off x="2009113" y="883883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100000" t="-1163" r="-884112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01887" t="-1163" r="-792453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301887" t="-1163" r="-692453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597196" t="-1163" r="-386916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703774" t="-1163" r="-290566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803774" t="-1163" r="-190566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896108C-CF1D-F0C6-3900-DE7A999FB0E0}"/>
              </a:ext>
            </a:extLst>
          </p:cNvPr>
          <p:cNvSpPr txBox="1"/>
          <p:nvPr/>
        </p:nvSpPr>
        <p:spPr>
          <a:xfrm>
            <a:off x="3561057" y="57928"/>
            <a:ext cx="5099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lang="fr-FR" sz="3600" b="1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bench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experimental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sensitivities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matrix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/>
              <p:nvPr/>
            </p:nvSpPr>
            <p:spPr>
              <a:xfrm>
                <a:off x="1866936" y="5502717"/>
                <a:ext cx="9920554" cy="102964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𝑟𝑒𝑠𝑝</m:t>
                        </m:r>
                      </m:num>
                      <m:den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kern="10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𝑁𝐷</m:t>
                            </m:r>
                          </m:e>
                          <m:sub>
                            <m: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sz="16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variation of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response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(∆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resp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) </a:t>
                </a:r>
                <a:r>
                  <a:rPr lang="fr-FR" sz="1600" b="1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induced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by the variation of the ND (∆ND) </a:t>
                </a:r>
                <a:r>
                  <a:rPr lang="fr-FR" sz="1600" b="1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too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of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r for isotope i,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g.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isotope 0 to I, r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0 to R, and g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0 to G ; for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benchmark index j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0 to J.</a:t>
                </a:r>
                <a:endParaRPr lang="fr-FR" sz="1600" kern="1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36" y="5502717"/>
                <a:ext cx="9920554" cy="1029641"/>
              </a:xfrm>
              <a:prstGeom prst="rect">
                <a:avLst/>
              </a:prstGeom>
              <a:blipFill>
                <a:blip r:embed="rId3"/>
                <a:stretch>
                  <a:fillRect b="-409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7">
            <a:extLst>
              <a:ext uri="{FF2B5EF4-FFF2-40B4-BE49-F238E27FC236}">
                <a16:creationId xmlns:a16="http://schemas.microsoft.com/office/drawing/2014/main" id="{83045EB6-BB8A-FE87-2A49-1F807B71F68D}"/>
              </a:ext>
            </a:extLst>
          </p:cNvPr>
          <p:cNvSpPr txBox="1"/>
          <p:nvPr/>
        </p:nvSpPr>
        <p:spPr>
          <a:xfrm rot="16200000">
            <a:off x="-717040" y="2437346"/>
            <a:ext cx="4882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J		  3         2          1         0</a:t>
            </a:r>
          </a:p>
        </p:txBody>
      </p:sp>
      <p:sp>
        <p:nvSpPr>
          <p:cNvPr id="27" name="Flèche : bas 26">
            <a:extLst>
              <a:ext uri="{FF2B5EF4-FFF2-40B4-BE49-F238E27FC236}">
                <a16:creationId xmlns:a16="http://schemas.microsoft.com/office/drawing/2014/main" id="{1BD77ABB-C8F3-EE12-31D3-0C2C11999991}"/>
              </a:ext>
            </a:extLst>
          </p:cNvPr>
          <p:cNvSpPr/>
          <p:nvPr/>
        </p:nvSpPr>
        <p:spPr>
          <a:xfrm>
            <a:off x="1618740" y="3248755"/>
            <a:ext cx="261844" cy="1446451"/>
          </a:xfrm>
          <a:prstGeom prst="downArrow">
            <a:avLst>
              <a:gd name="adj1" fmla="val 50000"/>
              <a:gd name="adj2" fmla="val 11756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FC06739-CAE7-1EA3-1452-45322430A1BB}"/>
              </a:ext>
            </a:extLst>
          </p:cNvPr>
          <p:cNvSpPr txBox="1"/>
          <p:nvPr/>
        </p:nvSpPr>
        <p:spPr>
          <a:xfrm rot="16200000">
            <a:off x="-1636710" y="3520229"/>
            <a:ext cx="5970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Benchmark cases </a:t>
            </a:r>
            <a:r>
              <a:rPr lang="fr-FR" sz="16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fr-FR" sz="16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sensitivity</a:t>
            </a:r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16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vectors</a:t>
            </a:r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933ED591-6396-8CD5-7CE9-D9BB0A0A2C4C}"/>
                  </a:ext>
                </a:extLst>
              </p:cNvPr>
              <p:cNvSpPr txBox="1"/>
              <p:nvPr/>
            </p:nvSpPr>
            <p:spPr>
              <a:xfrm>
                <a:off x="8722289" y="5155535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J | I</a:t>
                </a:r>
                <a:r>
                  <a:rPr lang="fr-FR" sz="1400" kern="100" baseline="30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933ED591-6396-8CD5-7CE9-D9BB0A0A2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289" y="5155535"/>
                <a:ext cx="3207372" cy="306238"/>
              </a:xfrm>
              <a:prstGeom prst="rect">
                <a:avLst/>
              </a:prstGeom>
              <a:blipFill>
                <a:blip r:embed="rId4"/>
                <a:stretch>
                  <a:fillRect t="-6000" b="-2000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89500629-9E2E-E736-643D-EDD0587DE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0222662"/>
                  </p:ext>
                </p:extLst>
              </p:nvPr>
            </p:nvGraphicFramePr>
            <p:xfrm>
              <a:off x="2009111" y="2115447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89500629-9E2E-E736-643D-EDD0587DE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0222662"/>
                  </p:ext>
                </p:extLst>
              </p:nvPr>
            </p:nvGraphicFramePr>
            <p:xfrm>
              <a:off x="2009111" y="2115447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au 8">
                <a:extLst>
                  <a:ext uri="{FF2B5EF4-FFF2-40B4-BE49-F238E27FC236}">
                    <a16:creationId xmlns:a16="http://schemas.microsoft.com/office/drawing/2014/main" id="{5261DB0A-E751-82BC-CD06-582F8375B3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279196"/>
                  </p:ext>
                </p:extLst>
              </p:nvPr>
            </p:nvGraphicFramePr>
            <p:xfrm>
              <a:off x="2009110" y="2731229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au 8">
                <a:extLst>
                  <a:ext uri="{FF2B5EF4-FFF2-40B4-BE49-F238E27FC236}">
                    <a16:creationId xmlns:a16="http://schemas.microsoft.com/office/drawing/2014/main" id="{5261DB0A-E751-82BC-CD06-582F8375B3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279196"/>
                  </p:ext>
                </p:extLst>
              </p:nvPr>
            </p:nvGraphicFramePr>
            <p:xfrm>
              <a:off x="2009110" y="2731229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72D6898B-AA74-EACD-16C4-E6223EB32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575570"/>
              </p:ext>
            </p:extLst>
          </p:nvPr>
        </p:nvGraphicFramePr>
        <p:xfrm>
          <a:off x="2009108" y="3962793"/>
          <a:ext cx="7048057" cy="517526"/>
        </p:xfrm>
        <a:graphic>
          <a:graphicData uri="http://schemas.openxmlformats.org/drawingml/2006/table">
            <a:tbl>
              <a:tblPr>
                <a:effectLst>
                  <a:innerShdw blurRad="419100" dist="596900" dir="2700000">
                    <a:schemeClr val="bg1"/>
                  </a:innerShdw>
                </a:effectLst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4026017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00051489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571919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6679746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379097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59349138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244827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4997127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51883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264270260"/>
                    </a:ext>
                  </a:extLst>
                </a:gridCol>
                <a:gridCol w="568057">
                  <a:extLst>
                    <a:ext uri="{9D8B030D-6E8A-4147-A177-3AD203B41FA5}">
                      <a16:colId xmlns:a16="http://schemas.microsoft.com/office/drawing/2014/main" val="1789773732"/>
                    </a:ext>
                  </a:extLst>
                </a:gridCol>
              </a:tblGrid>
              <a:tr h="51752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mpd="sng">
                      <a:noFill/>
                      <a:prstDash val="soli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338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au 11">
                <a:extLst>
                  <a:ext uri="{FF2B5EF4-FFF2-40B4-BE49-F238E27FC236}">
                    <a16:creationId xmlns:a16="http://schemas.microsoft.com/office/drawing/2014/main" id="{E0D658FD-DC74-839F-7264-9B5F2D92C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682234"/>
                  </p:ext>
                </p:extLst>
              </p:nvPr>
            </p:nvGraphicFramePr>
            <p:xfrm>
              <a:off x="2009107" y="457857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au 11">
                <a:extLst>
                  <a:ext uri="{FF2B5EF4-FFF2-40B4-BE49-F238E27FC236}">
                    <a16:creationId xmlns:a16="http://schemas.microsoft.com/office/drawing/2014/main" id="{E0D658FD-DC74-839F-7264-9B5F2D92C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682234"/>
                  </p:ext>
                </p:extLst>
              </p:nvPr>
            </p:nvGraphicFramePr>
            <p:xfrm>
              <a:off x="2009107" y="457857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5EF77B3-4009-A817-1C69-ABBB9459C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531737"/>
              </p:ext>
            </p:extLst>
          </p:nvPr>
        </p:nvGraphicFramePr>
        <p:xfrm>
          <a:off x="2009107" y="3361391"/>
          <a:ext cx="7048057" cy="517526"/>
        </p:xfrm>
        <a:graphic>
          <a:graphicData uri="http://schemas.openxmlformats.org/drawingml/2006/table">
            <a:tbl>
              <a:tblPr>
                <a:effectLst>
                  <a:innerShdw blurRad="419100" dist="596900" dir="2700000">
                    <a:schemeClr val="bg1"/>
                  </a:innerShdw>
                </a:effectLst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4026017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00051489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571919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6679746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379097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59349138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244827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4997127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51883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264270260"/>
                    </a:ext>
                  </a:extLst>
                </a:gridCol>
                <a:gridCol w="568057">
                  <a:extLst>
                    <a:ext uri="{9D8B030D-6E8A-4147-A177-3AD203B41FA5}">
                      <a16:colId xmlns:a16="http://schemas.microsoft.com/office/drawing/2014/main" val="1789773732"/>
                    </a:ext>
                  </a:extLst>
                </a:gridCol>
              </a:tblGrid>
              <a:tr h="51752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mpd="sng">
                      <a:noFill/>
                      <a:prstDash val="soli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338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au 13">
                <a:extLst>
                  <a:ext uri="{FF2B5EF4-FFF2-40B4-BE49-F238E27FC236}">
                    <a16:creationId xmlns:a16="http://schemas.microsoft.com/office/drawing/2014/main" id="{6339212C-69DC-507C-6CC3-350DBD6984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887340"/>
                  </p:ext>
                </p:extLst>
              </p:nvPr>
            </p:nvGraphicFramePr>
            <p:xfrm>
              <a:off x="2015135" y="149966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au 13">
                <a:extLst>
                  <a:ext uri="{FF2B5EF4-FFF2-40B4-BE49-F238E27FC236}">
                    <a16:creationId xmlns:a16="http://schemas.microsoft.com/office/drawing/2014/main" id="{6339212C-69DC-507C-6CC3-350DBD6984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887340"/>
                  </p:ext>
                </p:extLst>
              </p:nvPr>
            </p:nvGraphicFramePr>
            <p:xfrm>
              <a:off x="2015135" y="149966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45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836</Words>
  <Application>Microsoft Office PowerPoint</Application>
  <PresentationFormat>Grand écran</PresentationFormat>
  <Paragraphs>180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Barthélémi PETILLON</dc:creator>
  <cp:lastModifiedBy>PETILLON Barthelemi</cp:lastModifiedBy>
  <cp:revision>62</cp:revision>
  <dcterms:created xsi:type="dcterms:W3CDTF">2024-01-15T12:19:13Z</dcterms:created>
  <dcterms:modified xsi:type="dcterms:W3CDTF">2026-06-30T10:15:56Z</dcterms:modified>
</cp:coreProperties>
</file>
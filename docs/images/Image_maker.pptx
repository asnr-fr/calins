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4" r:id="rId8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22838BEF-8BB2-4498-84A7-C5851F593DF1}" styleName="Style moyen 4 - Accentuation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21" autoAdjust="0"/>
    <p:restoredTop sz="94660"/>
  </p:normalViewPr>
  <p:slideViewPr>
    <p:cSldViewPr snapToGrid="0">
      <p:cViewPr varScale="1">
        <p:scale>
          <a:sx n="69" d="100"/>
          <a:sy n="69" d="100"/>
        </p:scale>
        <p:origin x="78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E9293C-24A2-0F6A-F4D6-3C53B22C1C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4DAFF6C-C3CC-2632-EB93-B80C8B2B1E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153349-1F1E-C920-4025-7134E0D49E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82C574-8341-433E-8278-D812E3904DB0}" type="datetimeFigureOut">
              <a:rPr lang="fr-FR" smtClean="0"/>
              <a:t>18/12/2025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15C2C3-6D83-29E8-7DC7-CA9EFB4730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FEE2C1-A9B3-CBD5-18B4-22F9D8429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D2DC97-CD85-4411-A67B-63521450B58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857562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14D0D8-14F1-AACE-A002-192CF0EA37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B2BA0C-8F74-3EE8-A8C2-657A068D4B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52CBA0-D6E0-DCD8-11CB-500EA469B3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82C574-8341-433E-8278-D812E3904DB0}" type="datetimeFigureOut">
              <a:rPr lang="fr-FR" smtClean="0"/>
              <a:t>18/12/2025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38D267-FAA2-8E33-B29C-9C0349DD2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5CFD15-D5F5-4605-1B08-FCA940CBE4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D2DC97-CD85-4411-A67B-63521450B58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360447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D2C161-C777-D194-C876-480E202EE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076A92-4C13-F76A-FC5C-8961D70780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D0130E-1685-0EAD-BDE6-046860281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82C574-8341-433E-8278-D812E3904DB0}" type="datetimeFigureOut">
              <a:rPr lang="fr-FR" smtClean="0"/>
              <a:t>18/12/2025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0D0A86-E89E-FB67-273D-7AA0295529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F41960-CFBE-CCAD-25BD-5FCA38C65E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D2DC97-CD85-4411-A67B-63521450B58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488982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1E172-041F-CD17-D70B-E893A277E4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902CC3-E06D-80D2-931C-B9A8EA520E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46E2E93-0BE9-7A6A-D3DF-81A55D41B8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F2460F-C013-859D-66B2-A5A743F856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82C574-8341-433E-8278-D812E3904DB0}" type="datetimeFigureOut">
              <a:rPr lang="fr-FR" smtClean="0"/>
              <a:t>18/12/2025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989903-9B78-C2D2-F5DF-42C2DBD3B0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D33BB2-7585-C5B3-4BB6-2908A8694D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D2DC97-CD85-4411-A67B-63521450B58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790760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4456CA-38AD-420B-0BFB-A0BC36A28A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36D5CF-631D-C223-C8DF-6922EB35F9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9FA626-1D42-E7EA-B3BA-1743A010E4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DC766C-C1F4-828F-8AFF-CCF7A06D2A6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CECC016-5400-0D88-8E65-19D191EF210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983380D-1608-27E3-3E33-53E4AE7098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82C574-8341-433E-8278-D812E3904DB0}" type="datetimeFigureOut">
              <a:rPr lang="fr-FR" smtClean="0"/>
              <a:t>18/12/2025</a:t>
            </a:fld>
            <a:endParaRPr lang="fr-F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D8BFB5D-CDBF-217D-FE64-7958AA2A1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A2657F1-4A0E-3AE3-854C-3E648F9CC7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D2DC97-CD85-4411-A67B-63521450B58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049902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1FC7E9-FDD4-72DC-F44E-6A0EE38395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6759316-C40D-A241-707C-4173608450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82C574-8341-433E-8278-D812E3904DB0}" type="datetimeFigureOut">
              <a:rPr lang="fr-FR" smtClean="0"/>
              <a:t>18/12/2025</a:t>
            </a:fld>
            <a:endParaRPr lang="fr-F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20900D6-3372-5856-B8ED-E618E2D44A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0D3A837-61D7-5639-CC52-6E93239A73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D2DC97-CD85-4411-A67B-63521450B58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58407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A3B3E1E-538C-5267-9D7E-E829E94C54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82C574-8341-433E-8278-D812E3904DB0}" type="datetimeFigureOut">
              <a:rPr lang="fr-FR" smtClean="0"/>
              <a:t>18/12/2025</a:t>
            </a:fld>
            <a:endParaRPr lang="fr-F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03D6D6C-055B-9736-39EE-11130DCAFD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D08D87-4F17-489C-758E-F9FF374061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D2DC97-CD85-4411-A67B-63521450B58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230372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FAE017-BF80-6BEB-9352-5737A4E3F3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D19DA-0B29-B68C-80BF-6CACCA8BA8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9770CAE-E281-4889-B479-EA1C43EBFB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17C3B8D-FFE8-D03C-81E0-5D9F7DC897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82C574-8341-433E-8278-D812E3904DB0}" type="datetimeFigureOut">
              <a:rPr lang="fr-FR" smtClean="0"/>
              <a:t>18/12/2025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A84157-56A5-19C5-A59C-EDC456E8C2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FA7B50-86FF-8AC7-5DD3-5079DCB9A9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D2DC97-CD85-4411-A67B-63521450B58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902485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6E4597-AEDD-7D1D-20DD-704F4F972D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11A194D-A9D5-1C85-2109-AC4A234460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1A649F6-E546-3BAA-1C1C-8E0122115B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166D660-64D2-B815-A6B1-6B89A0F72F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82C574-8341-433E-8278-D812E3904DB0}" type="datetimeFigureOut">
              <a:rPr lang="fr-FR" smtClean="0"/>
              <a:t>18/12/2025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34CC23-6890-5A80-5C6F-900F0547B0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2D983D-DEEA-A173-00A9-B5990192EB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D2DC97-CD85-4411-A67B-63521450B58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46673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81EC5A-756A-BB29-46FE-FE52CA0019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B6982D9-F63C-3CD7-81F6-8496567B77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1E6217-E182-DA4B-B499-125C14B171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82C574-8341-433E-8278-D812E3904DB0}" type="datetimeFigureOut">
              <a:rPr lang="fr-FR" smtClean="0"/>
              <a:t>18/12/2025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B39130-9B9B-6650-0ED0-0308FEF01A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C047FB-2BDE-A1CE-C990-873E19EB3C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D2DC97-CD85-4411-A67B-63521450B58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281656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59F981-0A6A-2890-D4F3-D3AC3B4FD3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9B14604-8273-D0FE-C4AB-23AE028BC8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F9545F-F84A-71D9-48E8-CF21383D4D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82C574-8341-433E-8278-D812E3904DB0}" type="datetimeFigureOut">
              <a:rPr lang="fr-FR" smtClean="0"/>
              <a:t>18/12/2025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1B96CB-4384-1749-5414-741CE79A9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687A0A-DE1A-55B8-BC1C-74F6498015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D2DC97-CD85-4411-A67B-63521450B58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180439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DC45598-196D-DEF9-C885-43FE7A25C8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4DD598-6BBD-69DC-432D-F08C2B468A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9E04B0-782E-7F3C-7C7C-02EB96CE5E8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82C574-8341-433E-8278-D812E3904DB0}" type="datetimeFigureOut">
              <a:rPr lang="fr-FR" smtClean="0"/>
              <a:t>18/12/2025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624250-553B-2CF3-62DD-8E5155EDBA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20C7A8-A865-F537-DFA6-7826711627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ED2DC97-CD85-4411-A67B-63521450B58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583892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1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7.svg"/><Relationship Id="rId4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au 3">
                <a:extLst>
                  <a:ext uri="{FF2B5EF4-FFF2-40B4-BE49-F238E27FC236}">
                    <a16:creationId xmlns:a16="http://schemas.microsoft.com/office/drawing/2014/main" id="{9E693C86-ED5E-204B-8725-2E8D9834A6B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33806983"/>
                  </p:ext>
                </p:extLst>
              </p:nvPr>
            </p:nvGraphicFramePr>
            <p:xfrm>
              <a:off x="2082879" y="1320394"/>
              <a:ext cx="7048057" cy="517526"/>
            </p:xfrm>
            <a:graphic>
              <a:graphicData uri="http://schemas.openxmlformats.org/drawingml/2006/table">
                <a:tbl>
                  <a:tblPr>
                    <a:effectLst>
                      <a:innerShdw blurRad="482600" dist="1257300">
                        <a:schemeClr val="bg1"/>
                      </a:innerShdw>
                    </a:effectLst>
                  </a:tblPr>
                  <a:tblGrid>
                    <a:gridCol w="648000">
                      <a:extLst>
                        <a:ext uri="{9D8B030D-6E8A-4147-A177-3AD203B41FA5}">
                          <a16:colId xmlns:a16="http://schemas.microsoft.com/office/drawing/2014/main" val="2402601773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1000514895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55719196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2366797465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437909728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593491381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624482732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149971278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855188310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264270260"/>
                        </a:ext>
                      </a:extLst>
                    </a:gridCol>
                    <a:gridCol w="568057">
                      <a:extLst>
                        <a:ext uri="{9D8B030D-6E8A-4147-A177-3AD203B41FA5}">
                          <a16:colId xmlns:a16="http://schemas.microsoft.com/office/drawing/2014/main" val="1789773732"/>
                        </a:ext>
                      </a:extLst>
                    </a:gridCol>
                  </a:tblGrid>
                  <a:tr h="51752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+2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+2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mpd="sng">
                          <a:noFill/>
                          <a:prstDash val="soli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2033857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au 3">
                <a:extLst>
                  <a:ext uri="{FF2B5EF4-FFF2-40B4-BE49-F238E27FC236}">
                    <a16:creationId xmlns:a16="http://schemas.microsoft.com/office/drawing/2014/main" id="{9E693C86-ED5E-204B-8725-2E8D9834A6B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33806983"/>
                  </p:ext>
                </p:extLst>
              </p:nvPr>
            </p:nvGraphicFramePr>
            <p:xfrm>
              <a:off x="2082879" y="1320394"/>
              <a:ext cx="7048057" cy="517526"/>
            </p:xfrm>
            <a:graphic>
              <a:graphicData uri="http://schemas.openxmlformats.org/drawingml/2006/table">
                <a:tbl>
                  <a:tblPr>
                    <a:effectLst>
                      <a:innerShdw blurRad="482600" dist="1257300">
                        <a:schemeClr val="bg1"/>
                      </a:innerShdw>
                    </a:effectLst>
                  </a:tblPr>
                  <a:tblGrid>
                    <a:gridCol w="648000">
                      <a:extLst>
                        <a:ext uri="{9D8B030D-6E8A-4147-A177-3AD203B41FA5}">
                          <a16:colId xmlns:a16="http://schemas.microsoft.com/office/drawing/2014/main" val="2402601773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1000514895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55719196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2366797465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437909728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593491381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624482732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149971278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855188310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264270260"/>
                        </a:ext>
                      </a:extLst>
                    </a:gridCol>
                    <a:gridCol w="568057">
                      <a:extLst>
                        <a:ext uri="{9D8B030D-6E8A-4147-A177-3AD203B41FA5}">
                          <a16:colId xmlns:a16="http://schemas.microsoft.com/office/drawing/2014/main" val="1789773732"/>
                        </a:ext>
                      </a:extLst>
                    </a:gridCol>
                  </a:tblGrid>
                  <a:tr h="51752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2"/>
                          <a:stretch>
                            <a:fillRect l="-100000" t="-1163" r="-884112" b="-348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2"/>
                          <a:stretch>
                            <a:fillRect l="-201887" t="-1163" r="-792453" b="-348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2"/>
                          <a:stretch>
                            <a:fillRect l="-301887" t="-1163" r="-692453" b="-348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2"/>
                          <a:stretch>
                            <a:fillRect l="-597196" t="-1163" r="-386916" b="-348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2"/>
                          <a:stretch>
                            <a:fillRect l="-703774" t="-1163" r="-290566" b="-348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2"/>
                          <a:stretch>
                            <a:fillRect l="-803774" t="-1163" r="-190566" b="-348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mpd="sng">
                          <a:noFill/>
                          <a:prstDash val="soli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2033857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9896108C-CF1D-F0C6-3900-DE7A999FB0E0}"/>
              </a:ext>
            </a:extLst>
          </p:cNvPr>
          <p:cNvSpPr txBox="1"/>
          <p:nvPr/>
        </p:nvSpPr>
        <p:spPr>
          <a:xfrm>
            <a:off x="4398672" y="267064"/>
            <a:ext cx="25767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b="1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S</a:t>
            </a:r>
            <a:r>
              <a:rPr lang="fr-FR" sz="3600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</a:t>
            </a:r>
            <a:r>
              <a:rPr lang="fr-FR" sz="2000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: </a:t>
            </a:r>
            <a:r>
              <a:rPr lang="fr-FR" sz="2000" dirty="0" err="1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sensitivity</a:t>
            </a:r>
            <a:r>
              <a:rPr lang="fr-FR" sz="2000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</a:t>
            </a:r>
            <a:r>
              <a:rPr lang="fr-FR" sz="2000" dirty="0" err="1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vector</a:t>
            </a:r>
            <a:endParaRPr lang="fr-FR" dirty="0">
              <a:latin typeface="Cambria" panose="02040503050406030204" pitchFamily="18" charset="0"/>
              <a:ea typeface="Cambria" panose="020405030504060302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Right Brace 7">
            <a:extLst>
              <a:ext uri="{FF2B5EF4-FFF2-40B4-BE49-F238E27FC236}">
                <a16:creationId xmlns:a16="http://schemas.microsoft.com/office/drawing/2014/main" id="{E8D9F981-FB89-D779-70E9-C4DCDDECA1E5}"/>
              </a:ext>
            </a:extLst>
          </p:cNvPr>
          <p:cNvSpPr/>
          <p:nvPr/>
        </p:nvSpPr>
        <p:spPr>
          <a:xfrm rot="5400000">
            <a:off x="3386656" y="558339"/>
            <a:ext cx="607583" cy="321513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21B3A8F-7813-78DF-EFC4-4F9994DA8B01}"/>
                  </a:ext>
                </a:extLst>
              </p:cNvPr>
              <p:cNvSpPr txBox="1"/>
              <p:nvPr/>
            </p:nvSpPr>
            <p:spPr>
              <a:xfrm>
                <a:off x="1992139" y="2503039"/>
                <a:ext cx="3250698" cy="6552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   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p>
                    </m:sSup>
                    <m:r>
                      <a:rPr lang="fr-FR" b="0" i="1" smtClean="0">
                        <a:latin typeface="Cambria Math" panose="02040503050406030204" pitchFamily="18" charset="0"/>
                      </a:rPr>
                      <m:t> :</m:t>
                    </m:r>
                  </m:oMath>
                </a14:m>
                <a:r>
                  <a:rPr lang="fr-FR" i="1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fr-FR" i="1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sub-vector</a:t>
                </a:r>
                <a:r>
                  <a:rPr lang="fr-FR" i="1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of </a:t>
                </a:r>
                <a:r>
                  <a:rPr lang="fr-FR" i="1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sensitivities</a:t>
                </a:r>
                <a:r>
                  <a:rPr lang="fr-FR" i="1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, </a:t>
                </a:r>
              </a:p>
              <a:p>
                <a:r>
                  <a:rPr lang="fr-FR" i="1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for a isotope i and a </a:t>
                </a:r>
                <a:r>
                  <a:rPr lang="fr-FR" i="1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reaction</a:t>
                </a:r>
                <a:r>
                  <a:rPr lang="fr-FR" i="1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r.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21B3A8F-7813-78DF-EFC4-4F9994DA8B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92139" y="2503039"/>
                <a:ext cx="3250698" cy="655244"/>
              </a:xfrm>
              <a:prstGeom prst="rect">
                <a:avLst/>
              </a:prstGeom>
              <a:blipFill>
                <a:blip r:embed="rId3"/>
                <a:stretch>
                  <a:fillRect l="-1689" t="-4673" r="-563" b="-140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6344104-5635-E0BC-272D-7C67979DC373}"/>
                  </a:ext>
                </a:extLst>
              </p:cNvPr>
              <p:cNvSpPr txBox="1"/>
              <p:nvPr/>
            </p:nvSpPr>
            <p:spPr>
              <a:xfrm>
                <a:off x="6442506" y="2577594"/>
                <a:ext cx="837473" cy="37824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p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,   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p>
                      </m:sSup>
                    </m:oMath>
                  </m:oMathPara>
                </a14:m>
                <a:endParaRPr lang="fr-FR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6344104-5635-E0BC-272D-7C67979DC3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2506" y="2577594"/>
                <a:ext cx="837473" cy="37824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CD161CA-9ACB-E692-10A6-B8007B24E784}"/>
                  </a:ext>
                </a:extLst>
              </p:cNvPr>
              <p:cNvSpPr txBox="1"/>
              <p:nvPr/>
            </p:nvSpPr>
            <p:spPr>
              <a:xfrm>
                <a:off x="2751288" y="3789170"/>
                <a:ext cx="6230342" cy="1842107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marL="228600"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fr-FR" sz="1800" i="1" kern="100" smtClean="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SupPr>
                      <m:e>
                        <m:r>
                          <a:rPr lang="fr-FR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𝑆</m:t>
                        </m:r>
                      </m:e>
                      <m:sub>
                        <m:r>
                          <a:rPr lang="fr-FR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𝑔</m:t>
                        </m:r>
                      </m:sub>
                      <m:sup>
                        <m:r>
                          <a:rPr lang="fr-FR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  <m:r>
                          <a:rPr lang="fr-FR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, </m:t>
                        </m:r>
                        <m:r>
                          <a:rPr lang="fr-FR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𝑟</m:t>
                        </m:r>
                      </m:sup>
                    </m:sSubSup>
                    <m:r>
                      <a:rPr lang="fr-FR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 </m:t>
                    </m:r>
                    <m:f>
                      <m:fPr>
                        <m:ctrlPr>
                          <a:rPr lang="fr-FR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fr-FR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∆</m:t>
                        </m:r>
                        <m:sSub>
                          <m:sSubPr>
                            <m:ctrlPr>
                              <a:rPr lang="fr-FR" sz="1800" i="1" kern="10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fr-FR" sz="1800" i="1" kern="10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fr-FR" sz="1800" i="1" kern="10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𝑒𝑓𝑓</m:t>
                            </m:r>
                          </m:sub>
                        </m:sSub>
                      </m:num>
                      <m:den>
                        <m:r>
                          <a:rPr lang="fr-FR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∆</m:t>
                        </m:r>
                        <m:sSub>
                          <m:sSubPr>
                            <m:ctrlPr>
                              <a:rPr lang="fr-FR" sz="1800" i="1" kern="10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fr-FR" sz="1800" b="0" i="1" kern="100" smtClean="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𝑁𝐷</m:t>
                            </m:r>
                          </m:e>
                          <m:sub>
                            <m:r>
                              <a:rPr lang="fr-FR" sz="1800" i="1" kern="10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 </m:t>
                            </m:r>
                          </m:sub>
                        </m:sSub>
                      </m:den>
                    </m:f>
                  </m:oMath>
                </a14:m>
                <a:r>
                  <a:rPr lang="fr-FR" sz="18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  </a:t>
                </a:r>
                <a:r>
                  <a:rPr lang="fr-FR" sz="18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: variation of k</a:t>
                </a:r>
                <a:r>
                  <a:rPr lang="fr-FR" sz="1800" i="1" kern="100" baseline="-250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eff</a:t>
                </a:r>
                <a:r>
                  <a:rPr lang="fr-FR" sz="18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(∆k</a:t>
                </a:r>
                <a:r>
                  <a:rPr lang="fr-FR" sz="1800" i="1" kern="100" baseline="-250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eff</a:t>
                </a:r>
                <a:r>
                  <a:rPr lang="fr-FR" sz="18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) </a:t>
                </a:r>
                <a:r>
                  <a:rPr lang="fr-FR" sz="1800" b="1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in %</a:t>
                </a:r>
                <a:r>
                  <a:rPr lang="fr-FR" sz="18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, </a:t>
                </a:r>
                <a:r>
                  <a:rPr lang="fr-FR" sz="1800" i="1" kern="1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induced</a:t>
                </a:r>
                <a:r>
                  <a:rPr lang="fr-FR" sz="18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by the variation of the ND (∆</a:t>
                </a:r>
                <a:r>
                  <a:rPr lang="fr-FR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ND</a:t>
                </a:r>
                <a:r>
                  <a:rPr lang="fr-FR" sz="18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) </a:t>
                </a:r>
                <a:r>
                  <a:rPr lang="fr-FR" sz="1800" b="1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in %</a:t>
                </a:r>
                <a:r>
                  <a:rPr lang="fr-FR" sz="18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fr-FR" sz="1800" i="1" kern="1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too</a:t>
                </a:r>
                <a:r>
                  <a:rPr lang="fr-FR" sz="18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, </a:t>
                </a:r>
                <a:r>
                  <a:rPr lang="fr-FR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of </a:t>
                </a:r>
                <a:r>
                  <a:rPr lang="fr-FR" sz="1800" i="1" kern="1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reaction</a:t>
                </a:r>
                <a:r>
                  <a:rPr lang="fr-FR" sz="18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r for isotope i, </a:t>
                </a:r>
                <a:r>
                  <a:rPr lang="fr-FR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in </a:t>
                </a:r>
                <a:r>
                  <a:rPr lang="fr-FR" sz="1800" i="1" kern="1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en</a:t>
                </a:r>
                <a:r>
                  <a:rPr lang="fr-FR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ergy</a:t>
                </a:r>
                <a:r>
                  <a:rPr lang="fr-FR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group </a:t>
                </a:r>
                <a:r>
                  <a:rPr lang="fr-FR" sz="18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g</a:t>
                </a:r>
                <a:r>
                  <a:rPr lang="fr-FR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.</a:t>
                </a:r>
              </a:p>
              <a:p>
                <a:pPr marL="228600"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fr-FR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With</a:t>
                </a:r>
                <a:r>
                  <a:rPr lang="fr-FR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i </a:t>
                </a:r>
                <a:r>
                  <a:rPr lang="fr-FR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going</a:t>
                </a:r>
                <a:r>
                  <a:rPr lang="fr-FR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fr-FR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from</a:t>
                </a:r>
                <a:r>
                  <a:rPr lang="fr-FR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isotope 0 to I, r </a:t>
                </a:r>
                <a:r>
                  <a:rPr lang="fr-FR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going</a:t>
                </a:r>
                <a:r>
                  <a:rPr lang="fr-FR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fr-FR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from</a:t>
                </a:r>
                <a:r>
                  <a:rPr lang="fr-FR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fr-FR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reaction</a:t>
                </a:r>
                <a:r>
                  <a:rPr lang="fr-FR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0 to R, and g </a:t>
                </a:r>
                <a:r>
                  <a:rPr lang="fr-FR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going</a:t>
                </a:r>
                <a:r>
                  <a:rPr lang="fr-FR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fr-FR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from</a:t>
                </a:r>
                <a:r>
                  <a:rPr lang="fr-FR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fr-FR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energy</a:t>
                </a:r>
                <a:r>
                  <a:rPr lang="fr-FR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group 0 to G.</a:t>
                </a:r>
                <a:endParaRPr lang="fr-FR" kern="100" dirty="0">
                  <a:effectLst/>
                  <a:latin typeface="Cambria" panose="02040503050406030204" pitchFamily="18" charset="0"/>
                  <a:ea typeface="Cambria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CD161CA-9ACB-E692-10A6-B8007B24E7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51288" y="3789170"/>
                <a:ext cx="6230342" cy="1842107"/>
              </a:xfrm>
              <a:prstGeom prst="rect">
                <a:avLst/>
              </a:prstGeom>
              <a:blipFill>
                <a:blip r:embed="rId5"/>
                <a:stretch>
                  <a:fillRect r="-195" b="-3947"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20">
                <a:extLst>
                  <a:ext uri="{FF2B5EF4-FFF2-40B4-BE49-F238E27FC236}">
                    <a16:creationId xmlns:a16="http://schemas.microsoft.com/office/drawing/2014/main" id="{46BE1195-33B1-AE84-E596-3DBE24980B98}"/>
                  </a:ext>
                </a:extLst>
              </p:cNvPr>
              <p:cNvSpPr txBox="1"/>
              <p:nvPr/>
            </p:nvSpPr>
            <p:spPr>
              <a:xfrm>
                <a:off x="8439288" y="2200591"/>
                <a:ext cx="3902544" cy="639214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marL="228600"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 xmlns:m="http://schemas.openxmlformats.org/officeDocument/2006/math">
                    <m:r>
                      <a:rPr lang="fr-FR" sz="1400" i="1" kern="10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𝐷</m:t>
                    </m:r>
                    <m:r>
                      <a:rPr lang="fr-FR" sz="1400" b="0" i="1" kern="10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𝐼𝑀</m:t>
                    </m:r>
                    <m:r>
                      <a:rPr lang="fr-FR" sz="1400" b="0" i="1" kern="10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 : </m:t>
                    </m:r>
                  </m:oMath>
                </a14:m>
                <a:r>
                  <a:rPr lang="fr-FR" sz="14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1D </a:t>
                </a:r>
                <a:r>
                  <a:rPr lang="fr-FR" sz="14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 I</a:t>
                </a:r>
                <a:r>
                  <a:rPr lang="fr-FR" sz="1400" kern="100" baseline="300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r</a:t>
                </a:r>
                <a:r>
                  <a:rPr lang="fr-FR" sz="14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 𝗑 G</a:t>
                </a:r>
              </a:p>
              <a:p>
                <a:pPr marL="228600"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fr-FR" sz="14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 I</a:t>
                </a:r>
                <a:r>
                  <a:rPr lang="fr-FR" sz="1400" kern="100" baseline="300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r</a:t>
                </a:r>
                <a:r>
                  <a:rPr lang="fr-FR" sz="14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 : Total </a:t>
                </a:r>
                <a:r>
                  <a:rPr lang="fr-FR" sz="1400" kern="1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number</a:t>
                </a:r>
                <a:r>
                  <a:rPr lang="fr-FR" sz="14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 of isotope-</a:t>
                </a:r>
                <a:r>
                  <a:rPr lang="fr-FR" sz="1400" kern="1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reaction</a:t>
                </a:r>
                <a:r>
                  <a:rPr lang="fr-FR" sz="14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 pairs	</a:t>
                </a:r>
                <a:endParaRPr lang="fr-FR" sz="1400" kern="100" dirty="0">
                  <a:effectLst/>
                  <a:latin typeface="Cambria" panose="02040503050406030204" pitchFamily="18" charset="0"/>
                  <a:ea typeface="Cambria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" name="TextBox 20">
                <a:extLst>
                  <a:ext uri="{FF2B5EF4-FFF2-40B4-BE49-F238E27FC236}">
                    <a16:creationId xmlns:a16="http://schemas.microsoft.com/office/drawing/2014/main" id="{46BE1195-33B1-AE84-E596-3DBE24980B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39288" y="2200591"/>
                <a:ext cx="3902544" cy="639214"/>
              </a:xfrm>
              <a:prstGeom prst="rect">
                <a:avLst/>
              </a:prstGeom>
              <a:blipFill>
                <a:blip r:embed="rId6"/>
                <a:stretch>
                  <a:fillRect t="-2857" b="-7619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ight Brace 7">
            <a:extLst>
              <a:ext uri="{FF2B5EF4-FFF2-40B4-BE49-F238E27FC236}">
                <a16:creationId xmlns:a16="http://schemas.microsoft.com/office/drawing/2014/main" id="{9656804D-A796-A82C-930E-4D742560FC3A}"/>
              </a:ext>
            </a:extLst>
          </p:cNvPr>
          <p:cNvSpPr/>
          <p:nvPr/>
        </p:nvSpPr>
        <p:spPr>
          <a:xfrm rot="5400000">
            <a:off x="6557452" y="727006"/>
            <a:ext cx="607583" cy="2939912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312266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C78D2325-D930-9BFE-044A-FF619E347EF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25023807"/>
                  </p:ext>
                </p:extLst>
              </p:nvPr>
            </p:nvGraphicFramePr>
            <p:xfrm>
              <a:off x="2719703" y="1107508"/>
              <a:ext cx="6692900" cy="2008295"/>
            </p:xfrm>
            <a:graphic>
              <a:graphicData uri="http://schemas.openxmlformats.org/drawingml/2006/table">
                <a:tbl>
                  <a:tblPr firstRow="1" bandRow="1">
                    <a:tableStyleId>{D7AC3CCA-C797-4891-BE02-D94E43425B78}</a:tableStyleId>
                  </a:tblPr>
                  <a:tblGrid>
                    <a:gridCol w="1338580">
                      <a:extLst>
                        <a:ext uri="{9D8B030D-6E8A-4147-A177-3AD203B41FA5}">
                          <a16:colId xmlns:a16="http://schemas.microsoft.com/office/drawing/2014/main" val="710713661"/>
                        </a:ext>
                      </a:extLst>
                    </a:gridCol>
                    <a:gridCol w="1338580">
                      <a:extLst>
                        <a:ext uri="{9D8B030D-6E8A-4147-A177-3AD203B41FA5}">
                          <a16:colId xmlns:a16="http://schemas.microsoft.com/office/drawing/2014/main" val="2331507066"/>
                        </a:ext>
                      </a:extLst>
                    </a:gridCol>
                    <a:gridCol w="1338580">
                      <a:extLst>
                        <a:ext uri="{9D8B030D-6E8A-4147-A177-3AD203B41FA5}">
                          <a16:colId xmlns:a16="http://schemas.microsoft.com/office/drawing/2014/main" val="1042432262"/>
                        </a:ext>
                      </a:extLst>
                    </a:gridCol>
                    <a:gridCol w="1338580">
                      <a:extLst>
                        <a:ext uri="{9D8B030D-6E8A-4147-A177-3AD203B41FA5}">
                          <a16:colId xmlns:a16="http://schemas.microsoft.com/office/drawing/2014/main" val="2874601091"/>
                        </a:ext>
                      </a:extLst>
                    </a:gridCol>
                    <a:gridCol w="1338580">
                      <a:extLst>
                        <a:ext uri="{9D8B030D-6E8A-4147-A177-3AD203B41FA5}">
                          <a16:colId xmlns:a16="http://schemas.microsoft.com/office/drawing/2014/main" val="2474393722"/>
                        </a:ext>
                      </a:extLst>
                    </a:gridCol>
                  </a:tblGrid>
                  <a:tr h="40165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88544930"/>
                      </a:ext>
                    </a:extLst>
                  </a:tr>
                  <a:tr h="40165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𝑐𝑜𝑟𝑟</m:t>
                                    </m:r>
                                  </m:e>
                                  <m:sup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,   </m:t>
                                    </m:r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800" b="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𝑐𝑜𝑟𝑟</m:t>
                                    </m:r>
                                  </m:e>
                                  <m:sup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+1,   </m:t>
                                    </m:r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8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𝑐𝑜𝑟𝑟</m:t>
                                    </m:r>
                                  </m:e>
                                  <m:sup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+2,   </m:t>
                                    </m:r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8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92534793"/>
                      </a:ext>
                    </a:extLst>
                  </a:tr>
                  <a:tr h="40165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𝑐𝑜𝑟𝑟</m:t>
                                    </m:r>
                                  </m:e>
                                  <m:sup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,   </m:t>
                                    </m:r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8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𝑐𝑜𝑟𝑟</m:t>
                                    </m:r>
                                  </m:e>
                                  <m:sup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+1,   </m:t>
                                    </m:r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8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𝑐𝑜𝑟𝑟</m:t>
                                    </m:r>
                                  </m:e>
                                  <m:sup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+2,   </m:t>
                                    </m:r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8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13138953"/>
                      </a:ext>
                    </a:extLst>
                  </a:tr>
                  <a:tr h="40165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𝑐𝑜𝑟𝑟</m:t>
                                    </m:r>
                                  </m:e>
                                  <m:sup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,   </m:t>
                                    </m:r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+2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8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𝑐𝑜𝑟𝑟</m:t>
                                    </m:r>
                                  </m:e>
                                  <m:sup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+1,   </m:t>
                                    </m:r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+2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8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𝑐𝑜𝑟𝑟</m:t>
                                    </m:r>
                                  </m:e>
                                  <m:sup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+2,   </m:t>
                                    </m:r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+2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8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70469336"/>
                      </a:ext>
                    </a:extLst>
                  </a:tr>
                  <a:tr h="40165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mpd="sng">
                          <a:noFill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mpd="sng">
                          <a:noFill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mpd="sng">
                          <a:noFill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mpd="sng">
                          <a:noFill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mpd="sng">
                          <a:noFill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5261087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C78D2325-D930-9BFE-044A-FF619E347EF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25023807"/>
                  </p:ext>
                </p:extLst>
              </p:nvPr>
            </p:nvGraphicFramePr>
            <p:xfrm>
              <a:off x="2719703" y="1107508"/>
              <a:ext cx="6692900" cy="2008295"/>
            </p:xfrm>
            <a:graphic>
              <a:graphicData uri="http://schemas.openxmlformats.org/drawingml/2006/table">
                <a:tbl>
                  <a:tblPr firstRow="1" bandRow="1">
                    <a:tableStyleId>{D7AC3CCA-C797-4891-BE02-D94E43425B78}</a:tableStyleId>
                  </a:tblPr>
                  <a:tblGrid>
                    <a:gridCol w="1338580">
                      <a:extLst>
                        <a:ext uri="{9D8B030D-6E8A-4147-A177-3AD203B41FA5}">
                          <a16:colId xmlns:a16="http://schemas.microsoft.com/office/drawing/2014/main" val="710713661"/>
                        </a:ext>
                      </a:extLst>
                    </a:gridCol>
                    <a:gridCol w="1338580">
                      <a:extLst>
                        <a:ext uri="{9D8B030D-6E8A-4147-A177-3AD203B41FA5}">
                          <a16:colId xmlns:a16="http://schemas.microsoft.com/office/drawing/2014/main" val="2331507066"/>
                        </a:ext>
                      </a:extLst>
                    </a:gridCol>
                    <a:gridCol w="1338580">
                      <a:extLst>
                        <a:ext uri="{9D8B030D-6E8A-4147-A177-3AD203B41FA5}">
                          <a16:colId xmlns:a16="http://schemas.microsoft.com/office/drawing/2014/main" val="1042432262"/>
                        </a:ext>
                      </a:extLst>
                    </a:gridCol>
                    <a:gridCol w="1338580">
                      <a:extLst>
                        <a:ext uri="{9D8B030D-6E8A-4147-A177-3AD203B41FA5}">
                          <a16:colId xmlns:a16="http://schemas.microsoft.com/office/drawing/2014/main" val="2874601091"/>
                        </a:ext>
                      </a:extLst>
                    </a:gridCol>
                    <a:gridCol w="1338580">
                      <a:extLst>
                        <a:ext uri="{9D8B030D-6E8A-4147-A177-3AD203B41FA5}">
                          <a16:colId xmlns:a16="http://schemas.microsoft.com/office/drawing/2014/main" val="2474393722"/>
                        </a:ext>
                      </a:extLst>
                    </a:gridCol>
                  </a:tblGrid>
                  <a:tr h="40165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88544930"/>
                      </a:ext>
                    </a:extLst>
                  </a:tr>
                  <a:tr h="40165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000" t="-103030" r="-300000" b="-3196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913" t="-103030" r="-201370" b="-3196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99545" t="-103030" r="-100455" b="-3196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92534793"/>
                      </a:ext>
                    </a:extLst>
                  </a:tr>
                  <a:tr h="40165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000" t="-200000" r="-300000" b="-2149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913" t="-200000" r="-201370" b="-2149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99545" t="-200000" r="-100455" b="-2149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13138953"/>
                      </a:ext>
                    </a:extLst>
                  </a:tr>
                  <a:tr h="40165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000" t="-304545" r="-300000" b="-1181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913" t="-304545" r="-201370" b="-1181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99545" t="-304545" r="-100455" b="-1181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70469336"/>
                      </a:ext>
                    </a:extLst>
                  </a:tr>
                  <a:tr h="40165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mpd="sng">
                          <a:noFill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mpd="sng">
                          <a:noFill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mpd="sng">
                          <a:noFill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mpd="sng">
                          <a:noFill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mpd="sng">
                          <a:noFill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52610874"/>
                      </a:ext>
                    </a:extLst>
                  </a:tr>
                </a:tbl>
              </a:graphicData>
            </a:graphic>
          </p:graphicFrame>
        </mc:Fallback>
      </mc:AlternateContent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CD56E36-EB40-FB21-505A-109AAA7580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8558639"/>
              </p:ext>
            </p:extLst>
          </p:nvPr>
        </p:nvGraphicFramePr>
        <p:xfrm>
          <a:off x="5009804" y="2240280"/>
          <a:ext cx="208280" cy="365760"/>
        </p:xfrm>
        <a:graphic>
          <a:graphicData uri="http://schemas.openxmlformats.org/drawingml/2006/table">
            <a:tbl>
              <a:tblPr/>
              <a:tblGrid>
                <a:gridCol w="208280">
                  <a:extLst>
                    <a:ext uri="{9D8B030D-6E8A-4147-A177-3AD203B41FA5}">
                      <a16:colId xmlns:a16="http://schemas.microsoft.com/office/drawing/2014/main" val="301292141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92267943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806EEF5-CD62-B702-7DF6-0F2E3C08F148}"/>
                  </a:ext>
                </a:extLst>
              </p:cNvPr>
              <p:cNvSpPr txBox="1"/>
              <p:nvPr/>
            </p:nvSpPr>
            <p:spPr>
              <a:xfrm>
                <a:off x="1988993" y="3262251"/>
                <a:ext cx="8214014" cy="2349554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marL="514350" indent="-285750">
                  <a:lnSpc>
                    <a:spcPct val="107000"/>
                  </a:lnSpc>
                  <a:spcAft>
                    <a:spcPts val="800"/>
                  </a:spcAft>
                  <a:buFont typeface="Arial" panose="020B0604020202020204" pitchFamily="34" charset="0"/>
                  <a:buChar char="•"/>
                </a:pP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h </a:t>
                </a:r>
                <a14:m>
                  <m:oMath xmlns:m="http://schemas.openxmlformats.org/officeDocument/2006/math">
                    <m:r>
                      <a:rPr lang="fr-FR" sz="1600" i="1" kern="10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↔</m:t>
                    </m:r>
                  </m:oMath>
                </a14:m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(i,r,g)</a:t>
                </a:r>
                <a:r>
                  <a:rPr lang="fr-FR" sz="16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: </a:t>
                </a:r>
                <a:r>
                  <a:rPr lang="en-US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horizontal index running over each energy group, for all isotope–reaction pairs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(i,r) ; i.e.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fr-FR" sz="1600" i="1" kern="1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fr-FR" sz="1600" b="0" i="1" kern="1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𝑋</m:t>
                        </m:r>
                      </m:e>
                      <m:sup>
                        <m:r>
                          <a:rPr lang="fr-FR" sz="1600" b="0" i="1" kern="1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h</m:t>
                        </m:r>
                      </m:sup>
                    </m:sSup>
                    <m:r>
                      <a:rPr lang="fr-FR" sz="1600" i="1" kern="10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↔</m:t>
                    </m:r>
                  </m:oMath>
                </a14:m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sub>
                      <m:sup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,  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p>
                    </m:sSubSup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6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.</a:t>
                </a:r>
              </a:p>
              <a:p>
                <a:pPr marL="514350" indent="-285750">
                  <a:lnSpc>
                    <a:spcPct val="107000"/>
                  </a:lnSpc>
                  <a:spcAft>
                    <a:spcPts val="800"/>
                  </a:spcAft>
                  <a:buFont typeface="Arial" panose="020B0604020202020204" pitchFamily="34" charset="0"/>
                  <a:buChar char="•"/>
                </a:pP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v </a:t>
                </a:r>
                <a14:m>
                  <m:oMath xmlns:m="http://schemas.openxmlformats.org/officeDocument/2006/math">
                    <m:r>
                      <a:rPr lang="fr-FR" sz="1600" i="1" kern="10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↔</m:t>
                    </m:r>
                  </m:oMath>
                </a14:m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(i,r,g) </a:t>
                </a:r>
                <a:r>
                  <a:rPr lang="fr-FR" sz="16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: </a:t>
                </a:r>
                <a:r>
                  <a:rPr lang="en-US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vertical index running over each energy group, for all isotope–reaction pairs 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(i,r) ; i.e.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fr-FR" sz="1600" i="1" kern="1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fr-FR" sz="1600" b="0" i="1" kern="1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𝑋</m:t>
                        </m:r>
                      </m:e>
                      <m:sup>
                        <m:r>
                          <a:rPr lang="fr-FR" sz="1600" b="0" i="1" kern="1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𝑣</m:t>
                        </m:r>
                      </m:sup>
                    </m:sSup>
                    <m:r>
                      <a:rPr lang="fr-FR" sz="1600" i="1" kern="10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↔</m:t>
                    </m:r>
                  </m:oMath>
                </a14:m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sub>
                      <m:sup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,  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p>
                    </m:sSubSup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fr-FR" sz="16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.</a:t>
                </a:r>
              </a:p>
              <a:p>
                <a:pPr marL="514350" indent="-285750">
                  <a:lnSpc>
                    <a:spcPct val="107000"/>
                  </a:lnSpc>
                  <a:spcAft>
                    <a:spcPts val="8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𝑐𝑜𝑟𝑟</m:t>
                        </m:r>
                      </m:e>
                      <m:sup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,   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sup>
                    </m:sSup>
                  </m:oMath>
                </a14:m>
                <a:r>
                  <a:rPr lang="fr-FR" sz="16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fr-FR" sz="1600" i="1" kern="10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↔</m:t>
                    </m:r>
                  </m:oMath>
                </a14:m>
                <a:r>
                  <a:rPr lang="fr-FR" sz="16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𝑐𝑜𝑟𝑟</m:t>
                        </m:r>
                      </m:e>
                      <m:sub>
                        <m:sSub>
                          <m:sSubPr>
                            <m:ctrlP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  <m:sub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,   </m:t>
                        </m:r>
                        <m:sSub>
                          <m:sSubPr>
                            <m:ctrlP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  <m:sub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</m:sub>
                      <m:sup>
                        <m:d>
                          <m:dPr>
                            <m:ctrlP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  <m:sub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d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,   (</m:t>
                        </m:r>
                        <m:sSub>
                          <m:sSubPr>
                            <m:ctrlP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bSup>
                  </m:oMath>
                </a14:m>
                <a:r>
                  <a:rPr lang="fr-FR" sz="16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: </a:t>
                </a:r>
                <a:r>
                  <a:rPr lang="en-US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correlation factor between the uncertainties of the ND of reaction </a:t>
                </a:r>
                <a:r>
                  <a:rPr lang="fr-FR" sz="1600" i="1" kern="1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r</a:t>
                </a:r>
                <a:r>
                  <a:rPr lang="fr-FR" sz="1600" i="1" kern="100" baseline="-250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h</a:t>
                </a:r>
                <a:r>
                  <a:rPr lang="fr-FR" sz="16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for isotope </a:t>
                </a:r>
                <a:r>
                  <a:rPr lang="fr-FR" sz="1600" i="1" kern="1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i</a:t>
                </a:r>
                <a:r>
                  <a:rPr lang="fr-FR" sz="1600" i="1" kern="100" baseline="-250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h</a:t>
                </a:r>
                <a:r>
                  <a:rPr lang="fr-FR" sz="16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in </a:t>
                </a:r>
                <a:r>
                  <a:rPr lang="fr-FR" sz="1600" i="1" kern="1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energy</a:t>
                </a:r>
                <a:r>
                  <a:rPr lang="fr-FR" sz="16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group </a:t>
                </a:r>
                <a:r>
                  <a:rPr lang="fr-FR" sz="1600" i="1" kern="1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g</a:t>
                </a:r>
                <a:r>
                  <a:rPr lang="fr-FR" sz="1600" i="1" kern="100" baseline="-250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h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, and réaction </a:t>
                </a:r>
                <a:r>
                  <a:rPr lang="fr-FR" sz="1600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r</a:t>
                </a:r>
                <a:r>
                  <a:rPr lang="fr-FR" sz="1600" i="1" kern="100" baseline="-250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v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for isotope i</a:t>
                </a:r>
                <a:r>
                  <a:rPr lang="fr-FR" sz="1600" i="1" kern="100" baseline="-250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v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, in </a:t>
                </a:r>
                <a:r>
                  <a:rPr lang="fr-FR" sz="1600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energy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group </a:t>
                </a:r>
                <a:r>
                  <a:rPr lang="fr-FR" sz="1600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g</a:t>
                </a:r>
                <a:r>
                  <a:rPr lang="fr-FR" sz="1600" i="1" kern="100" baseline="-250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v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. Note: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𝑐𝑜𝑟𝑟</m:t>
                        </m:r>
                      </m:e>
                      <m:sup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,   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sup>
                    </m:sSup>
                  </m:oMath>
                </a14:m>
                <a:r>
                  <a:rPr lang="fr-FR" sz="16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= 1 ; </a:t>
                </a:r>
                <a:r>
                  <a:rPr lang="fr-FR" sz="1600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when</a:t>
                </a:r>
                <a:r>
                  <a:rPr lang="fr-FR" sz="16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h=v.</a:t>
                </a: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806EEF5-CD62-B702-7DF6-0F2E3C08F1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8993" y="3262251"/>
                <a:ext cx="8214014" cy="2349554"/>
              </a:xfrm>
              <a:prstGeom prst="rect">
                <a:avLst/>
              </a:prstGeom>
              <a:blipFill>
                <a:blip r:embed="rId3"/>
                <a:stretch>
                  <a:fillRect t="-773" r="-444" b="-1804"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5E9FFB55-327E-E8FF-C4FD-9623F2B96923}"/>
              </a:ext>
            </a:extLst>
          </p:cNvPr>
          <p:cNvSpPr txBox="1"/>
          <p:nvPr/>
        </p:nvSpPr>
        <p:spPr>
          <a:xfrm>
            <a:off x="4496653" y="348315"/>
            <a:ext cx="28847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Corr</a:t>
            </a:r>
            <a:r>
              <a:rPr lang="fr-FR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: </a:t>
            </a:r>
            <a:r>
              <a:rPr lang="fr-FR" dirty="0" err="1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correlation</a:t>
            </a:r>
            <a:r>
              <a:rPr lang="fr-FR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matrix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20">
                <a:extLst>
                  <a:ext uri="{FF2B5EF4-FFF2-40B4-BE49-F238E27FC236}">
                    <a16:creationId xmlns:a16="http://schemas.microsoft.com/office/drawing/2014/main" id="{327A305E-53B1-A837-9B59-4D623C4FFDFE}"/>
                  </a:ext>
                </a:extLst>
              </p:cNvPr>
              <p:cNvSpPr txBox="1"/>
              <p:nvPr/>
            </p:nvSpPr>
            <p:spPr>
              <a:xfrm>
                <a:off x="9170159" y="2882789"/>
                <a:ext cx="3207372" cy="306238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marL="228600"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 xmlns:m="http://schemas.openxmlformats.org/officeDocument/2006/math">
                    <m:r>
                      <a:rPr lang="fr-FR" sz="1400" i="1" kern="10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𝐷</m:t>
                    </m:r>
                    <m:r>
                      <a:rPr lang="fr-FR" sz="1400" b="0" i="1" kern="10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𝐼𝑀</m:t>
                    </m:r>
                    <m:r>
                      <a:rPr lang="fr-FR" sz="1400" b="0" i="1" kern="10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 :</m:t>
                    </m:r>
                    <m:r>
                      <a:rPr lang="fr-FR" sz="1400" b="0" i="0" kern="10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2</m:t>
                    </m:r>
                  </m:oMath>
                </a14:m>
                <a:r>
                  <a:rPr lang="fr-FR" sz="14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D </a:t>
                </a:r>
                <a:r>
                  <a:rPr lang="fr-FR" sz="14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 I</a:t>
                </a:r>
                <a:r>
                  <a:rPr lang="fr-FR" sz="1400" kern="100" baseline="300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r</a:t>
                </a:r>
                <a:r>
                  <a:rPr lang="fr-FR" sz="14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 𝗑 G </a:t>
                </a:r>
                <a:r>
                  <a:rPr lang="fr-FR" sz="1400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| I</a:t>
                </a:r>
                <a:r>
                  <a:rPr lang="fr-FR" sz="1400" kern="100" baseline="300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r</a:t>
                </a:r>
                <a:r>
                  <a:rPr lang="fr-FR" sz="1400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 𝗑 G </a:t>
                </a:r>
                <a:endParaRPr lang="fr-FR" sz="1400" kern="100" dirty="0">
                  <a:effectLst/>
                  <a:latin typeface="Cambria" panose="02040503050406030204" pitchFamily="18" charset="0"/>
                  <a:ea typeface="Cambria" panose="02040503050406030204" pitchFamily="18" charset="0"/>
                  <a:cs typeface="Times New Roman" panose="02020603050405020304" pitchFamily="18" charset="0"/>
                  <a:sym typeface="Wingdings" panose="05000000000000000000" pitchFamily="2" charset="2"/>
                </a:endParaRPr>
              </a:p>
            </p:txBody>
          </p:sp>
        </mc:Choice>
        <mc:Fallback xmlns="">
          <p:sp>
            <p:nvSpPr>
              <p:cNvPr id="2" name="TextBox 20">
                <a:extLst>
                  <a:ext uri="{FF2B5EF4-FFF2-40B4-BE49-F238E27FC236}">
                    <a16:creationId xmlns:a16="http://schemas.microsoft.com/office/drawing/2014/main" id="{327A305E-53B1-A837-9B59-4D623C4FFD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70159" y="2882789"/>
                <a:ext cx="3207372" cy="306238"/>
              </a:xfrm>
              <a:prstGeom prst="rect">
                <a:avLst/>
              </a:prstGeom>
              <a:blipFill>
                <a:blip r:embed="rId4"/>
                <a:stretch>
                  <a:fillRect t="-6000" b="-20000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225195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C78D2325-D930-9BFE-044A-FF619E347EF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47893827"/>
                  </p:ext>
                </p:extLst>
              </p:nvPr>
            </p:nvGraphicFramePr>
            <p:xfrm>
              <a:off x="2751187" y="1105731"/>
              <a:ext cx="6689625" cy="1997583"/>
            </p:xfrm>
            <a:graphic>
              <a:graphicData uri="http://schemas.openxmlformats.org/drawingml/2006/table">
                <a:tbl>
                  <a:tblPr firstRow="1" bandRow="1">
                    <a:tableStyleId>{D7AC3CCA-C797-4891-BE02-D94E43425B78}</a:tableStyleId>
                  </a:tblPr>
                  <a:tblGrid>
                    <a:gridCol w="1337925">
                      <a:extLst>
                        <a:ext uri="{9D8B030D-6E8A-4147-A177-3AD203B41FA5}">
                          <a16:colId xmlns:a16="http://schemas.microsoft.com/office/drawing/2014/main" val="710713661"/>
                        </a:ext>
                      </a:extLst>
                    </a:gridCol>
                    <a:gridCol w="1337925">
                      <a:extLst>
                        <a:ext uri="{9D8B030D-6E8A-4147-A177-3AD203B41FA5}">
                          <a16:colId xmlns:a16="http://schemas.microsoft.com/office/drawing/2014/main" val="2331507066"/>
                        </a:ext>
                      </a:extLst>
                    </a:gridCol>
                    <a:gridCol w="1337925">
                      <a:extLst>
                        <a:ext uri="{9D8B030D-6E8A-4147-A177-3AD203B41FA5}">
                          <a16:colId xmlns:a16="http://schemas.microsoft.com/office/drawing/2014/main" val="1042432262"/>
                        </a:ext>
                      </a:extLst>
                    </a:gridCol>
                    <a:gridCol w="1337925">
                      <a:extLst>
                        <a:ext uri="{9D8B030D-6E8A-4147-A177-3AD203B41FA5}">
                          <a16:colId xmlns:a16="http://schemas.microsoft.com/office/drawing/2014/main" val="2874601091"/>
                        </a:ext>
                      </a:extLst>
                    </a:gridCol>
                    <a:gridCol w="1337925">
                      <a:extLst>
                        <a:ext uri="{9D8B030D-6E8A-4147-A177-3AD203B41FA5}">
                          <a16:colId xmlns:a16="http://schemas.microsoft.com/office/drawing/2014/main" val="2474393722"/>
                        </a:ext>
                      </a:extLst>
                    </a:gridCol>
                  </a:tblGrid>
                  <a:tr h="3960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88544930"/>
                      </a:ext>
                    </a:extLst>
                  </a:tr>
                  <a:tr h="3960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𝑐𝑜𝑣</m:t>
                                    </m:r>
                                  </m:e>
                                  <m:sup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,   </m:t>
                                    </m:r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2000" b="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𝑐𝑜𝑣</m:t>
                                    </m:r>
                                  </m:e>
                                  <m:sup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+1,   </m:t>
                                    </m:r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20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𝑐𝑜𝑣</m:t>
                                    </m:r>
                                  </m:e>
                                  <m:sup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+2,   </m:t>
                                    </m:r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20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92534793"/>
                      </a:ext>
                    </a:extLst>
                  </a:tr>
                  <a:tr h="3960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𝑐𝑜𝑣</m:t>
                                    </m:r>
                                  </m:e>
                                  <m:sup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,   </m:t>
                                    </m:r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20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𝑐𝑜𝑣</m:t>
                                    </m:r>
                                  </m:e>
                                  <m:sup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+1,   </m:t>
                                    </m:r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20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𝑐𝑜𝑣</m:t>
                                    </m:r>
                                  </m:e>
                                  <m:sup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+2,   </m:t>
                                    </m:r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20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13138953"/>
                      </a:ext>
                    </a:extLst>
                  </a:tr>
                  <a:tr h="3960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𝑐𝑜𝑣</m:t>
                                    </m:r>
                                  </m:e>
                                  <m:sup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,   </m:t>
                                    </m:r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+2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20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𝑐𝑜𝑣</m:t>
                                    </m:r>
                                  </m:e>
                                  <m:sup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+1,   </m:t>
                                    </m:r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+2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20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𝑐𝑜𝑣</m:t>
                                    </m:r>
                                  </m:e>
                                  <m:sup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+2,   </m:t>
                                    </m:r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+2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20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70469336"/>
                      </a:ext>
                    </a:extLst>
                  </a:tr>
                  <a:tr h="3960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mpd="sng">
                          <a:noFill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mpd="sng">
                          <a:noFill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mpd="sng">
                          <a:noFill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mpd="sng">
                          <a:noFill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mpd="sng">
                          <a:noFill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5261087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C78D2325-D930-9BFE-044A-FF619E347EF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47893827"/>
                  </p:ext>
                </p:extLst>
              </p:nvPr>
            </p:nvGraphicFramePr>
            <p:xfrm>
              <a:off x="2751187" y="1105731"/>
              <a:ext cx="6689625" cy="1997583"/>
            </p:xfrm>
            <a:graphic>
              <a:graphicData uri="http://schemas.openxmlformats.org/drawingml/2006/table">
                <a:tbl>
                  <a:tblPr firstRow="1" bandRow="1">
                    <a:tableStyleId>{D7AC3CCA-C797-4891-BE02-D94E43425B78}</a:tableStyleId>
                  </a:tblPr>
                  <a:tblGrid>
                    <a:gridCol w="1337925">
                      <a:extLst>
                        <a:ext uri="{9D8B030D-6E8A-4147-A177-3AD203B41FA5}">
                          <a16:colId xmlns:a16="http://schemas.microsoft.com/office/drawing/2014/main" val="710713661"/>
                        </a:ext>
                      </a:extLst>
                    </a:gridCol>
                    <a:gridCol w="1337925">
                      <a:extLst>
                        <a:ext uri="{9D8B030D-6E8A-4147-A177-3AD203B41FA5}">
                          <a16:colId xmlns:a16="http://schemas.microsoft.com/office/drawing/2014/main" val="2331507066"/>
                        </a:ext>
                      </a:extLst>
                    </a:gridCol>
                    <a:gridCol w="1337925">
                      <a:extLst>
                        <a:ext uri="{9D8B030D-6E8A-4147-A177-3AD203B41FA5}">
                          <a16:colId xmlns:a16="http://schemas.microsoft.com/office/drawing/2014/main" val="1042432262"/>
                        </a:ext>
                      </a:extLst>
                    </a:gridCol>
                    <a:gridCol w="1337925">
                      <a:extLst>
                        <a:ext uri="{9D8B030D-6E8A-4147-A177-3AD203B41FA5}">
                          <a16:colId xmlns:a16="http://schemas.microsoft.com/office/drawing/2014/main" val="2874601091"/>
                        </a:ext>
                      </a:extLst>
                    </a:gridCol>
                    <a:gridCol w="1337925">
                      <a:extLst>
                        <a:ext uri="{9D8B030D-6E8A-4147-A177-3AD203B41FA5}">
                          <a16:colId xmlns:a16="http://schemas.microsoft.com/office/drawing/2014/main" val="2474393722"/>
                        </a:ext>
                      </a:extLst>
                    </a:gridCol>
                  </a:tblGrid>
                  <a:tr h="3962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88544930"/>
                      </a:ext>
                    </a:extLst>
                  </a:tr>
                  <a:tr h="40170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457" t="-106061" r="-301370" b="-32575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99545" t="-106061" r="-200000" b="-32575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0913" t="-106061" r="-100913" b="-32575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92534793"/>
                      </a:ext>
                    </a:extLst>
                  </a:tr>
                  <a:tr h="40170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457" t="-202985" r="-301370" b="-22089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99545" t="-202985" r="-200000" b="-22089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0913" t="-202985" r="-100913" b="-22089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13138953"/>
                      </a:ext>
                    </a:extLst>
                  </a:tr>
                  <a:tr h="40170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457" t="-307576" r="-301370" b="-12424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99545" t="-307576" r="-200000" b="-12424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0913" t="-307576" r="-100913" b="-12424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70469336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mpd="sng">
                          <a:noFill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mpd="sng">
                          <a:noFill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mpd="sng">
                          <a:noFill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mpd="sng">
                          <a:noFill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mpd="sng">
                          <a:noFill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52610874"/>
                      </a:ext>
                    </a:extLst>
                  </a:tr>
                </a:tbl>
              </a:graphicData>
            </a:graphic>
          </p:graphicFrame>
        </mc:Fallback>
      </mc:AlternateContent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CD56E36-EB40-FB21-505A-109AAA7580C5}"/>
              </a:ext>
            </a:extLst>
          </p:cNvPr>
          <p:cNvGraphicFramePr>
            <a:graphicFrameLocks noGrp="1"/>
          </p:cNvGraphicFramePr>
          <p:nvPr/>
        </p:nvGraphicFramePr>
        <p:xfrm>
          <a:off x="4168140" y="2240280"/>
          <a:ext cx="1059180" cy="365760"/>
        </p:xfrm>
        <a:graphic>
          <a:graphicData uri="http://schemas.openxmlformats.org/drawingml/2006/table">
            <a:tbl>
              <a:tblPr/>
              <a:tblGrid>
                <a:gridCol w="1059180">
                  <a:extLst>
                    <a:ext uri="{9D8B030D-6E8A-4147-A177-3AD203B41FA5}">
                      <a16:colId xmlns:a16="http://schemas.microsoft.com/office/drawing/2014/main" val="301292141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92267943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806EEF5-CD62-B702-7DF6-0F2E3C08F148}"/>
                  </a:ext>
                </a:extLst>
              </p:cNvPr>
              <p:cNvSpPr txBox="1"/>
              <p:nvPr/>
            </p:nvSpPr>
            <p:spPr>
              <a:xfrm>
                <a:off x="921509" y="3549642"/>
                <a:ext cx="10650855" cy="2697983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marL="514350" indent="-285750">
                  <a:lnSpc>
                    <a:spcPct val="107000"/>
                  </a:lnSpc>
                  <a:spcAft>
                    <a:spcPts val="800"/>
                  </a:spcAft>
                  <a:buFont typeface="Arial" panose="020B0604020202020204" pitchFamily="34" charset="0"/>
                  <a:buChar char="•"/>
                </a:pP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h </a:t>
                </a:r>
                <a14:m>
                  <m:oMath xmlns:m="http://schemas.openxmlformats.org/officeDocument/2006/math">
                    <m:r>
                      <a:rPr lang="fr-FR" sz="1600" i="1" kern="10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↔</m:t>
                    </m:r>
                  </m:oMath>
                </a14:m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(i,r,g)</a:t>
                </a:r>
                <a:r>
                  <a:rPr lang="fr-FR" sz="16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: </a:t>
                </a:r>
                <a:r>
                  <a:rPr lang="en-US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horizontal index running over each energy group, for all isotope–reaction pairs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(</a:t>
                </a:r>
                <a:r>
                  <a:rPr lang="fr-FR" sz="1600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i,r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)</a:t>
                </a:r>
                <a:r>
                  <a:rPr lang="fr-FR" sz="16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. </a:t>
                </a:r>
              </a:p>
              <a:p>
                <a:pPr marL="514350" indent="-285750">
                  <a:lnSpc>
                    <a:spcPct val="107000"/>
                  </a:lnSpc>
                  <a:spcAft>
                    <a:spcPts val="800"/>
                  </a:spcAft>
                  <a:buFont typeface="Arial" panose="020B0604020202020204" pitchFamily="34" charset="0"/>
                  <a:buChar char="•"/>
                </a:pP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v </a:t>
                </a:r>
                <a14:m>
                  <m:oMath xmlns:m="http://schemas.openxmlformats.org/officeDocument/2006/math">
                    <m:r>
                      <a:rPr lang="fr-FR" sz="1600" i="1" kern="10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↔</m:t>
                    </m:r>
                  </m:oMath>
                </a14:m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(i,r,g)</a:t>
                </a:r>
                <a:r>
                  <a:rPr lang="fr-FR" sz="16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: </a:t>
                </a:r>
                <a:r>
                  <a:rPr lang="en-US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vertical index running over each energy group, for all isotope–reaction pairs 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(</a:t>
                </a:r>
                <a:r>
                  <a:rPr lang="fr-FR" sz="1600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i,r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)</a:t>
                </a:r>
                <a:r>
                  <a:rPr lang="fr-FR" sz="16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.</a:t>
                </a:r>
              </a:p>
              <a:p>
                <a:pPr marL="228600">
                  <a:lnSpc>
                    <a:spcPct val="107000"/>
                  </a:lnSpc>
                  <a:spcAft>
                    <a:spcPts val="800"/>
                  </a:spcAft>
                </a:pPr>
                <a:endParaRPr lang="fr-FR" sz="1600" i="1" kern="100" dirty="0">
                  <a:effectLst/>
                  <a:latin typeface="Cambria" panose="02040503050406030204" pitchFamily="18" charset="0"/>
                  <a:ea typeface="Cambria" panose="02040503050406030204" pitchFamily="18" charset="0"/>
                  <a:cs typeface="Times New Roman" panose="02020603050405020304" pitchFamily="18" charset="0"/>
                </a:endParaRPr>
              </a:p>
              <a:p>
                <a:pPr marL="228600"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fr-FR" sz="1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sSubSup>
                                <m:sSubSupPr>
                                  <m:ctrlPr>
                                    <a:rPr lang="fr-FR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sSup>
                                    <m:sSupPr>
                                      <m:ctrlPr>
                                        <a:rPr lang="fr-FR" sz="16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fr-FR" sz="1600" b="0" i="1" smtClean="0">
                                          <a:latin typeface="Cambria Math" panose="02040503050406030204" pitchFamily="18" charset="0"/>
                                        </a:rPr>
                                        <m:t>𝑐𝑜𝑣</m:t>
                                      </m:r>
                                    </m:e>
                                    <m:sup>
                                      <m:r>
                                        <a:rPr lang="fr-FR" sz="1600" b="0" i="1" smtClean="0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  <m:r>
                                        <a:rPr lang="fr-FR" sz="1600" b="0" i="1" smtClean="0">
                                          <a:latin typeface="Cambria Math" panose="02040503050406030204" pitchFamily="18" charset="0"/>
                                        </a:rPr>
                                        <m:t>,   </m:t>
                                      </m:r>
                                      <m:r>
                                        <a:rPr lang="fr-FR" sz="1600" b="0" i="1" smtClean="0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sup>
                                  </m:sSup>
                                  <m:r>
                                    <a:rPr lang="fr-FR" sz="1600" b="0" i="1" smtClean="0">
                                      <a:latin typeface="Cambria Math" panose="02040503050406030204" pitchFamily="18" charset="0"/>
                                    </a:rPr>
                                    <m:t>=</m:t>
                                  </m:r>
                                  <m:r>
                                    <a:rPr lang="fr-FR" sz="16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fr-FR" sz="16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𝑁𝐷</m:t>
                                  </m:r>
                                </m:sub>
                                <m:sup>
                                  <m:r>
                                    <a:rPr lang="fr-FR" sz="1600" b="0" i="1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sup>
                              </m:sSubSup>
                            </m:e>
                            <m:sup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</m:sSup>
                          <m:r>
                            <a:rPr lang="fr-F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sSup>
                            <m:sSupPr>
                              <m:ctrlP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sSubSup>
                                <m:sSubSupPr>
                                  <m:ctrlPr>
                                    <a:rPr lang="fr-FR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fr-FR" sz="16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fr-FR" sz="16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𝑁𝐷</m:t>
                                  </m:r>
                                </m:sub>
                                <m:sup>
                                  <m:r>
                                    <a:rPr lang="fr-FR" sz="1600" b="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sup>
                              </m:sSubSup>
                            </m:e>
                            <m:sup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</m:sSup>
                          <m:r>
                            <a:rPr lang="fr-F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𝑐𝑜𝑟𝑟</m:t>
                          </m:r>
                        </m:e>
                        <m:sup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,   </m:t>
                          </m:r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sup>
                      </m:sSup>
                    </m:oMath>
                  </m:oMathPara>
                </a14:m>
                <a:endParaRPr lang="fr-FR" sz="1600" i="1" kern="100" dirty="0">
                  <a:effectLst/>
                  <a:latin typeface="Cambria" panose="02040503050406030204" pitchFamily="18" charset="0"/>
                  <a:ea typeface="Cambria" panose="02040503050406030204" pitchFamily="18" charset="0"/>
                  <a:cs typeface="Times New Roman" panose="02020603050405020304" pitchFamily="18" charset="0"/>
                </a:endParaRPr>
              </a:p>
              <a:p>
                <a:pPr marL="514350" indent="-285750">
                  <a:lnSpc>
                    <a:spcPct val="107000"/>
                  </a:lnSpc>
                  <a:spcAft>
                    <a:spcPts val="8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𝑐𝑜𝑣</m:t>
                        </m:r>
                      </m:e>
                      <m:sup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,   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sup>
                    </m:sSup>
                    <m:r>
                      <a:rPr lang="fr-FR" sz="1600" i="1" kern="10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↔</m:t>
                    </m:r>
                  </m:oMath>
                </a14:m>
                <a:r>
                  <a:rPr lang="fr-FR" sz="1600" b="0" dirty="0">
                    <a:latin typeface="Cambria" panose="02040503050406030204" pitchFamily="18" charset="0"/>
                    <a:ea typeface="Cambria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𝑐𝑜𝑣</m:t>
                        </m:r>
                      </m:e>
                      <m:sub>
                        <m:sSub>
                          <m:sSubPr>
                            <m:ctrlP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  <m:sub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,   </m:t>
                        </m:r>
                        <m:sSub>
                          <m:sSubPr>
                            <m:ctrlP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  <m:sub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</m:sub>
                      <m:sup>
                        <m:d>
                          <m:dPr>
                            <m:ctrlP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  <m:sub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d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,   (</m:t>
                        </m:r>
                        <m:sSub>
                          <m:sSubPr>
                            <m:ctrlP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bSup>
                  </m:oMath>
                </a14:m>
                <a:r>
                  <a:rPr lang="fr-FR" sz="16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: covariance </a:t>
                </a:r>
                <a:r>
                  <a:rPr lang="en-US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between the uncertainties of the ND of reaction </a:t>
                </a:r>
                <a:r>
                  <a:rPr lang="fr-FR" sz="1600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r</a:t>
                </a:r>
                <a:r>
                  <a:rPr lang="fr-FR" sz="1600" i="1" kern="100" baseline="-250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h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for isotope </a:t>
                </a:r>
                <a:r>
                  <a:rPr lang="fr-FR" sz="1600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i</a:t>
                </a:r>
                <a:r>
                  <a:rPr lang="fr-FR" sz="1600" i="1" kern="100" baseline="-250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h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in </a:t>
                </a:r>
                <a:r>
                  <a:rPr lang="fr-FR" sz="1600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energy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group </a:t>
                </a:r>
                <a:r>
                  <a:rPr lang="fr-FR" sz="1600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g</a:t>
                </a:r>
                <a:r>
                  <a:rPr lang="fr-FR" sz="1600" i="1" kern="100" baseline="-250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h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, and réaction </a:t>
                </a:r>
                <a:r>
                  <a:rPr lang="fr-FR" sz="1600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r</a:t>
                </a:r>
                <a:r>
                  <a:rPr lang="fr-FR" sz="1600" i="1" kern="100" baseline="-250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v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for isotope i</a:t>
                </a:r>
                <a:r>
                  <a:rPr lang="fr-FR" sz="1600" i="1" kern="100" baseline="-250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v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, in </a:t>
                </a:r>
                <a:r>
                  <a:rPr lang="fr-FR" sz="1600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energy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group </a:t>
                </a:r>
                <a:r>
                  <a:rPr lang="fr-FR" sz="1600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g</a:t>
                </a:r>
                <a:r>
                  <a:rPr lang="fr-FR" sz="1600" i="1" kern="100" baseline="-250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v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. Note: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𝑐𝑜𝑣</m:t>
                        </m:r>
                      </m:e>
                      <m:sup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,   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sup>
                    </m:sSup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Sup>
                          <m:sSubSupPr>
                            <m:ctrlP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fr-F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𝑁𝐷</m:t>
                            </m:r>
                          </m:sub>
                          <m:sup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p>
                        </m:sSubSup>
                      </m:e>
                      <m:sup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Sup>
                          <m:sSubSupPr>
                            <m:ctrlP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fr-F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𝑁𝐷</m:t>
                            </m:r>
                          </m:sub>
                          <m:sup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p>
                        </m:sSubSup>
                      </m:e>
                      <m:sup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𝑣𝑎𝑟𝑖𝑎𝑛𝑐𝑒</m:t>
                    </m:r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;  </a:t>
                </a:r>
                <a:r>
                  <a:rPr lang="fr-FR" sz="1600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when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h=v.</a:t>
                </a:r>
                <a:endParaRPr lang="fr-FR" sz="1600" i="1" kern="100" dirty="0">
                  <a:effectLst/>
                  <a:latin typeface="Cambria" panose="02040503050406030204" pitchFamily="18" charset="0"/>
                  <a:ea typeface="Cambria" panose="02040503050406030204" pitchFamily="18" charset="0"/>
                  <a:cs typeface="Times New Roman" panose="02020603050405020304" pitchFamily="18" charset="0"/>
                </a:endParaRPr>
              </a:p>
              <a:p>
                <a:pPr marL="514350" indent="-285750">
                  <a:lnSpc>
                    <a:spcPct val="107000"/>
                  </a:lnSpc>
                  <a:spcAft>
                    <a:spcPts val="8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fr-FR" sz="1600" b="0" i="1" kern="1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fr-FR" sz="1600" i="1" kern="10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fr-FR" sz="1600" i="1" kern="10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fr-FR" sz="1600" b="0" i="1" kern="10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𝑋𝑆</m:t>
                            </m:r>
                          </m:sub>
                        </m:sSub>
                      </m:e>
                      <m:sup>
                        <m:r>
                          <a:rPr lang="fr-FR" sz="1600" b="0" i="1" kern="1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h</m:t>
                        </m:r>
                      </m:sup>
                    </m:sSup>
                    <m:r>
                      <a:rPr lang="fr-FR" sz="1600" i="1" kern="10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↔</m:t>
                    </m:r>
                    <m:sSup>
                      <m:sSupPr>
                        <m:ctrlPr>
                          <a:rPr lang="fr-FR" sz="1600" b="0" i="1" kern="1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fr-FR" sz="1600" i="1" kern="10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fr-FR" sz="1600" i="1" kern="10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fr-FR" sz="1600" b="0" i="1" kern="10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𝑋𝑆</m:t>
                            </m:r>
                          </m:sub>
                        </m:sSub>
                      </m:e>
                      <m:sup>
                        <m:r>
                          <a:rPr lang="fr-FR" sz="1600" b="0" i="1" kern="1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𝑣</m:t>
                        </m:r>
                      </m:sup>
                    </m:sSup>
                    <m:r>
                      <a:rPr lang="fr-FR" sz="1600" i="1" kern="10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↔</m:t>
                    </m:r>
                    <m:sSubSup>
                      <m:sSubSupPr>
                        <m:ctrlPr>
                          <a:rPr lang="fr-FR" sz="1600" i="1" kern="1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SupPr>
                      <m:e>
                        <m:sSub>
                          <m:sSubPr>
                            <m:ctrlPr>
                              <a:rPr lang="fr-FR" sz="1600" i="1" kern="10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fr-FR" sz="1600" i="1" kern="10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fr-FR" sz="1600" b="0" i="1" kern="10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𝑋𝑆</m:t>
                            </m:r>
                          </m:sub>
                        </m:sSub>
                      </m:e>
                      <m:sub>
                        <m:r>
                          <a:rPr lang="fr-FR" sz="1600" b="0" i="1" kern="1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𝑔</m:t>
                        </m:r>
                      </m:sub>
                      <m:sup>
                        <m:r>
                          <a:rPr lang="fr-FR" sz="1600" b="0" i="1" kern="1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  <m:r>
                          <a:rPr lang="fr-FR" sz="1600" b="0" i="1" kern="1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,   </m:t>
                        </m:r>
                        <m:r>
                          <a:rPr lang="fr-FR" sz="1600" b="0" i="1" kern="1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𝑟</m:t>
                        </m:r>
                      </m:sup>
                    </m:sSubSup>
                  </m:oMath>
                </a14:m>
                <a:r>
                  <a:rPr lang="fr-FR" sz="16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: relative </a:t>
                </a:r>
                <a:r>
                  <a:rPr lang="fr-FR" sz="1600" i="1" kern="1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uncertatiny</a:t>
                </a:r>
                <a:r>
                  <a:rPr lang="fr-FR" sz="16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(</a:t>
                </a:r>
                <a:r>
                  <a:rPr lang="fr-FR" sz="1600" b="1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in %</a:t>
                </a:r>
                <a:r>
                  <a:rPr lang="fr-FR" sz="16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) on ND 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of </a:t>
                </a:r>
                <a:r>
                  <a:rPr lang="fr-FR" sz="1600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reaction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fr-FR" sz="16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r 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of isotope </a:t>
                </a:r>
                <a:r>
                  <a:rPr lang="fr-FR" sz="16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i, in </a:t>
                </a:r>
                <a:r>
                  <a:rPr lang="fr-FR" sz="1600" i="1" kern="1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energy</a:t>
                </a:r>
                <a:r>
                  <a:rPr lang="fr-FR" sz="16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group g.</a:t>
                </a:r>
                <a:r>
                  <a:rPr lang="fr-FR" sz="12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:endParaRPr lang="fr-FR" sz="1600" i="1" kern="100" dirty="0">
                  <a:effectLst/>
                  <a:latin typeface="Cambria" panose="02040503050406030204" pitchFamily="18" charset="0"/>
                  <a:ea typeface="Cambria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806EEF5-CD62-B702-7DF6-0F2E3C08F1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1509" y="3549642"/>
                <a:ext cx="10650855" cy="2697983"/>
              </a:xfrm>
              <a:prstGeom prst="rect">
                <a:avLst/>
              </a:prstGeom>
              <a:blipFill>
                <a:blip r:embed="rId3"/>
                <a:stretch>
                  <a:fillRect t="-674"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5E9FFB55-327E-E8FF-C4FD-9623F2B96923}"/>
              </a:ext>
            </a:extLst>
          </p:cNvPr>
          <p:cNvSpPr txBox="1"/>
          <p:nvPr/>
        </p:nvSpPr>
        <p:spPr>
          <a:xfrm>
            <a:off x="4316810" y="245388"/>
            <a:ext cx="381771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Cov</a:t>
            </a:r>
            <a:r>
              <a:rPr lang="fr-FR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: variances-covariances matrix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5EF85D1-5B82-5E59-1313-D507C76043FD}"/>
              </a:ext>
            </a:extLst>
          </p:cNvPr>
          <p:cNvSpPr/>
          <p:nvPr/>
        </p:nvSpPr>
        <p:spPr>
          <a:xfrm>
            <a:off x="4701309" y="4599709"/>
            <a:ext cx="2909455" cy="563418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20">
                <a:extLst>
                  <a:ext uri="{FF2B5EF4-FFF2-40B4-BE49-F238E27FC236}">
                    <a16:creationId xmlns:a16="http://schemas.microsoft.com/office/drawing/2014/main" id="{518F4BE9-058F-EC13-FC20-439927A449F6}"/>
                  </a:ext>
                </a:extLst>
              </p:cNvPr>
              <p:cNvSpPr txBox="1"/>
              <p:nvPr/>
            </p:nvSpPr>
            <p:spPr>
              <a:xfrm>
                <a:off x="9183411" y="3122762"/>
                <a:ext cx="3207372" cy="306238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marL="228600"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 xmlns:m="http://schemas.openxmlformats.org/officeDocument/2006/math">
                    <m:r>
                      <a:rPr lang="fr-FR" sz="1400" i="1" kern="10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𝐷</m:t>
                    </m:r>
                    <m:r>
                      <a:rPr lang="fr-FR" sz="1400" b="0" i="1" kern="10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𝐼𝑀</m:t>
                    </m:r>
                    <m:r>
                      <a:rPr lang="fr-FR" sz="1400" b="0" i="1" kern="10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 :</m:t>
                    </m:r>
                    <m:r>
                      <a:rPr lang="fr-FR" sz="1400" b="0" i="0" kern="10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2</m:t>
                    </m:r>
                  </m:oMath>
                </a14:m>
                <a:r>
                  <a:rPr lang="fr-FR" sz="14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D </a:t>
                </a:r>
                <a:r>
                  <a:rPr lang="fr-FR" sz="14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 I</a:t>
                </a:r>
                <a:r>
                  <a:rPr lang="fr-FR" sz="1400" kern="100" baseline="300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r</a:t>
                </a:r>
                <a:r>
                  <a:rPr lang="fr-FR" sz="14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 𝗑 G </a:t>
                </a:r>
                <a:r>
                  <a:rPr lang="fr-FR" sz="1400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| I</a:t>
                </a:r>
                <a:r>
                  <a:rPr lang="fr-FR" sz="1400" kern="100" baseline="300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r</a:t>
                </a:r>
                <a:r>
                  <a:rPr lang="fr-FR" sz="1400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 𝗑 G </a:t>
                </a:r>
                <a:endParaRPr lang="fr-FR" sz="1400" kern="100" dirty="0">
                  <a:effectLst/>
                  <a:latin typeface="Cambria" panose="02040503050406030204" pitchFamily="18" charset="0"/>
                  <a:ea typeface="Cambria" panose="02040503050406030204" pitchFamily="18" charset="0"/>
                  <a:cs typeface="Times New Roman" panose="02020603050405020304" pitchFamily="18" charset="0"/>
                  <a:sym typeface="Wingdings" panose="05000000000000000000" pitchFamily="2" charset="2"/>
                </a:endParaRPr>
              </a:p>
            </p:txBody>
          </p:sp>
        </mc:Choice>
        <mc:Fallback xmlns="">
          <p:sp>
            <p:nvSpPr>
              <p:cNvPr id="2" name="TextBox 20">
                <a:extLst>
                  <a:ext uri="{FF2B5EF4-FFF2-40B4-BE49-F238E27FC236}">
                    <a16:creationId xmlns:a16="http://schemas.microsoft.com/office/drawing/2014/main" id="{518F4BE9-058F-EC13-FC20-439927A449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83411" y="3122762"/>
                <a:ext cx="3207372" cy="306238"/>
              </a:xfrm>
              <a:prstGeom prst="rect">
                <a:avLst/>
              </a:prstGeom>
              <a:blipFill>
                <a:blip r:embed="rId4"/>
                <a:stretch>
                  <a:fillRect t="-3922" b="-19608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809819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5E9FFB55-327E-E8FF-C4FD-9623F2B96923}"/>
              </a:ext>
            </a:extLst>
          </p:cNvPr>
          <p:cNvSpPr txBox="1"/>
          <p:nvPr/>
        </p:nvSpPr>
        <p:spPr>
          <a:xfrm>
            <a:off x="3524575" y="369101"/>
            <a:ext cx="381771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Cov</a:t>
            </a:r>
            <a:r>
              <a:rPr lang="fr-FR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: variances-covariances matrix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F698F51-A157-2002-1F39-D8D70D861721}"/>
                  </a:ext>
                </a:extLst>
              </p:cNvPr>
              <p:cNvSpPr txBox="1"/>
              <p:nvPr/>
            </p:nvSpPr>
            <p:spPr>
              <a:xfrm>
                <a:off x="2856180" y="2017888"/>
                <a:ext cx="7403501" cy="23033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fr-F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fr-FR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fr-FR" i="1" smtClean="0">
                                        <a:solidFill>
                                          <a:schemeClr val="accent1">
                                            <a:lumMod val="60000"/>
                                            <a:lumOff val="40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m>
                                      <m:mPr>
                                        <m:mcs>
                                          <m:mc>
                                            <m:mcPr>
                                              <m:count m:val="3"/>
                                              <m:mcJc m:val="center"/>
                                            </m:mcPr>
                                          </m:mc>
                                        </m:mcs>
                                        <m:ctrlPr>
                                          <a:rPr lang="fr-FR" i="1" smtClean="0">
                                            <a:solidFill>
                                              <a:schemeClr val="accent1">
                                                <a:lumMod val="60000"/>
                                                <a:lumOff val="40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mPr>
                                      <m:mr>
                                        <m:e>
                                          <m:sSubSup>
                                            <m:sSubSupPr>
                                              <m:ctrlPr>
                                                <a:rPr lang="fr-FR" i="1" smtClean="0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𝑐𝑜𝑣</m:t>
                                              </m:r>
                                            </m:e>
                                            <m:sub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0,   0</m:t>
                                              </m:r>
                                            </m:sub>
                                            <m:sup>
                                              <m:d>
                                                <m:dPr>
                                                  <m:ctrlP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60000"/>
                                                          <a:lumOff val="4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60000"/>
                                                          <a:lumOff val="4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0,0</m:t>
                                                  </m:r>
                                                </m:e>
                                              </m:d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(0,0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sup>
                                          </m:sSubSup>
                                        </m:e>
                                        <m:e>
                                          <m:r>
                                            <a:rPr lang="fr-FR" i="1" smtClean="0">
                                              <a:solidFill>
                                                <a:schemeClr val="accent1">
                                                  <a:lumMod val="60000"/>
                                                  <a:lumOff val="4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⋯</m:t>
                                          </m:r>
                                        </m:e>
                                        <m:e>
                                          <m:sSubSup>
                                            <m:sSubSupPr>
                                              <m:ctrlPr>
                                                <a:rPr lang="fr-FR" i="1" smtClean="0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𝑐𝑜𝑣</m:t>
                                              </m:r>
                                            </m:e>
                                            <m:sub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𝐺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   0</m:t>
                                              </m:r>
                                            </m:sub>
                                            <m:sup>
                                              <m:d>
                                                <m:dPr>
                                                  <m:ctrlP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60000"/>
                                                          <a:lumOff val="4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60000"/>
                                                          <a:lumOff val="4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0,0</m:t>
                                                  </m:r>
                                                </m:e>
                                              </m:d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(0,0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sup>
                                          </m:sSubSup>
                                        </m:e>
                                      </m:mr>
                                      <m:mr>
                                        <m:e>
                                          <m:r>
                                            <a:rPr lang="fr-FR" i="1" smtClean="0">
                                              <a:solidFill>
                                                <a:schemeClr val="accent1">
                                                  <a:lumMod val="60000"/>
                                                  <a:lumOff val="4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⋮</m:t>
                                          </m:r>
                                        </m:e>
                                        <m:e>
                                          <m:r>
                                            <a:rPr lang="fr-FR" i="1" smtClean="0">
                                              <a:solidFill>
                                                <a:schemeClr val="accent1">
                                                  <a:lumMod val="60000"/>
                                                  <a:lumOff val="4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⋱</m:t>
                                          </m:r>
                                        </m:e>
                                        <m:e>
                                          <m:r>
                                            <a:rPr lang="fr-FR" i="1" smtClean="0">
                                              <a:solidFill>
                                                <a:schemeClr val="accent1">
                                                  <a:lumMod val="60000"/>
                                                  <a:lumOff val="4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⋮</m:t>
                                          </m:r>
                                        </m:e>
                                      </m:mr>
                                      <m:mr>
                                        <m:e>
                                          <m:sSubSup>
                                            <m:sSubSupPr>
                                              <m:ctrlPr>
                                                <a:rPr lang="fr-FR" i="1" smtClean="0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𝑐𝑜𝑣</m:t>
                                              </m:r>
                                            </m:e>
                                            <m:sub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0,   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𝐺</m:t>
                                              </m:r>
                                            </m:sub>
                                            <m:sup>
                                              <m:d>
                                                <m:dPr>
                                                  <m:ctrlP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60000"/>
                                                          <a:lumOff val="4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60000"/>
                                                          <a:lumOff val="4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0,0</m:t>
                                                  </m:r>
                                                </m:e>
                                              </m:d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(0,0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sup>
                                          </m:sSubSup>
                                        </m:e>
                                        <m:e>
                                          <m:r>
                                            <a:rPr lang="fr-FR" i="1" smtClean="0">
                                              <a:solidFill>
                                                <a:schemeClr val="accent1">
                                                  <a:lumMod val="60000"/>
                                                  <a:lumOff val="4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⋯</m:t>
                                          </m:r>
                                        </m:e>
                                        <m:e>
                                          <m:sSubSup>
                                            <m:sSubSupPr>
                                              <m:ctrlPr>
                                                <a:rPr lang="fr-FR" i="1" smtClean="0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𝑐𝑜𝑣</m:t>
                                              </m:r>
                                            </m:e>
                                            <m:sub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𝐺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   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𝐺</m:t>
                                              </m:r>
                                            </m:sub>
                                            <m:sup>
                                              <m:d>
                                                <m:dPr>
                                                  <m:ctrlP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60000"/>
                                                          <a:lumOff val="4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60000"/>
                                                          <a:lumOff val="4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0,0</m:t>
                                                  </m:r>
                                                </m:e>
                                              </m:d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(0,0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sup>
                                          </m:sSubSup>
                                        </m:e>
                                      </m:mr>
                                    </m:m>
                                  </m:e>
                                </m:d>
                              </m:e>
                              <m:e>
                                <m:r>
                                  <a:rPr lang="fr-FR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fr-FR" i="1" smtClean="0">
                                        <a:solidFill>
                                          <a:schemeClr val="accent1">
                                            <a:lumMod val="7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m>
                                      <m:mPr>
                                        <m:mcs>
                                          <m:mc>
                                            <m:mcPr>
                                              <m:count m:val="3"/>
                                              <m:mcJc m:val="center"/>
                                            </m:mcPr>
                                          </m:mc>
                                        </m:mcs>
                                        <m:ctrlPr>
                                          <a:rPr lang="fr-FR" i="1" smtClean="0">
                                            <a:solidFill>
                                              <a:schemeClr val="accent1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mPr>
                                      <m:mr>
                                        <m:e>
                                          <m:sSubSup>
                                            <m:sSubSupPr>
                                              <m:ctrlPr>
                                                <a:rPr lang="fr-FR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𝑐𝑜𝑣</m:t>
                                              </m:r>
                                            </m:e>
                                            <m:sub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0,   0</m:t>
                                              </m:r>
                                            </m:sub>
                                            <m:sup>
                                              <m:d>
                                                <m:dPr>
                                                  <m:ctrlP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𝐼</m:t>
                                                  </m:r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,</m:t>
                                                  </m:r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𝑅</m:t>
                                                  </m:r>
                                                </m:e>
                                              </m:d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(0,0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sup>
                                          </m:sSubSup>
                                        </m:e>
                                        <m:e>
                                          <m:r>
                                            <a:rPr lang="fr-FR" i="1" smtClean="0">
                                              <a:solidFill>
                                                <a:schemeClr val="accent1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⋯</m:t>
                                          </m:r>
                                        </m:e>
                                        <m:e>
                                          <m:sSubSup>
                                            <m:sSubSupPr>
                                              <m:ctrlPr>
                                                <a:rPr lang="fr-FR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𝑐𝑜𝑣</m:t>
                                              </m:r>
                                            </m:e>
                                            <m:sub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𝐺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   0</m:t>
                                              </m:r>
                                            </m:sub>
                                            <m:sup>
                                              <m:d>
                                                <m:dPr>
                                                  <m:ctrlP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𝐼</m:t>
                                                  </m:r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,</m:t>
                                                  </m:r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𝑅</m:t>
                                                  </m:r>
                                                </m:e>
                                              </m:d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(0,0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sup>
                                          </m:sSubSup>
                                        </m:e>
                                      </m:mr>
                                      <m:mr>
                                        <m:e>
                                          <m:r>
                                            <a:rPr lang="fr-FR" i="1" smtClean="0">
                                              <a:solidFill>
                                                <a:schemeClr val="accent1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⋮</m:t>
                                          </m:r>
                                        </m:e>
                                        <m:e>
                                          <m:r>
                                            <a:rPr lang="fr-FR" i="1" smtClean="0">
                                              <a:solidFill>
                                                <a:schemeClr val="accent1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⋱</m:t>
                                          </m:r>
                                        </m:e>
                                        <m:e>
                                          <m:r>
                                            <a:rPr lang="fr-FR" i="1" smtClean="0">
                                              <a:solidFill>
                                                <a:schemeClr val="accent1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⋮</m:t>
                                          </m:r>
                                        </m:e>
                                      </m:mr>
                                      <m:mr>
                                        <m:e>
                                          <m:sSubSup>
                                            <m:sSubSupPr>
                                              <m:ctrlPr>
                                                <a:rPr lang="fr-FR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𝑐𝑜𝑣</m:t>
                                              </m:r>
                                            </m:e>
                                            <m:sub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0,   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𝐺</m:t>
                                              </m:r>
                                            </m:sub>
                                            <m:sup>
                                              <m:d>
                                                <m:dPr>
                                                  <m:ctrlP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𝐼</m:t>
                                                  </m:r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,</m:t>
                                                  </m:r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𝑅</m:t>
                                                  </m:r>
                                                </m:e>
                                              </m:d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(0,0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sup>
                                          </m:sSubSup>
                                        </m:e>
                                        <m:e>
                                          <m:r>
                                            <a:rPr lang="fr-FR" i="1" smtClean="0">
                                              <a:solidFill>
                                                <a:schemeClr val="accent1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⋯</m:t>
                                          </m:r>
                                        </m:e>
                                        <m:e>
                                          <m:sSubSup>
                                            <m:sSubSupPr>
                                              <m:ctrlPr>
                                                <a:rPr lang="fr-FR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𝑐𝑜𝑣</m:t>
                                              </m:r>
                                            </m:e>
                                            <m:sub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𝐺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   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𝐺</m:t>
                                              </m:r>
                                            </m:sub>
                                            <m:sup>
                                              <m:d>
                                                <m:dPr>
                                                  <m:ctrlP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𝐼</m:t>
                                                  </m:r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,</m:t>
                                                  </m:r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𝑅</m:t>
                                                  </m:r>
                                                </m:e>
                                              </m:d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(0,0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sup>
                                          </m:sSubSup>
                                        </m:e>
                                      </m:mr>
                                    </m:m>
                                  </m:e>
                                </m:d>
                              </m:e>
                            </m:mr>
                            <m:mr>
                              <m:e>
                                <m:r>
                                  <a:rPr lang="fr-FR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fr-FR" i="1" smtClean="0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fr-FR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fr-FR" i="1" smtClean="0">
                                        <a:solidFill>
                                          <a:schemeClr val="accent1">
                                            <a:lumMod val="7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m>
                                      <m:mPr>
                                        <m:mcs>
                                          <m:mc>
                                            <m:mcPr>
                                              <m:count m:val="3"/>
                                              <m:mcJc m:val="center"/>
                                            </m:mcPr>
                                          </m:mc>
                                        </m:mcs>
                                        <m:ctrlPr>
                                          <a:rPr lang="fr-FR" i="1" smtClean="0">
                                            <a:solidFill>
                                              <a:schemeClr val="accent1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mPr>
                                      <m:mr>
                                        <m:e>
                                          <m:sSubSup>
                                            <m:sSubSupPr>
                                              <m:ctrlPr>
                                                <a:rPr lang="fr-FR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𝑐𝑜𝑣</m:t>
                                              </m:r>
                                            </m:e>
                                            <m:sub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0,   0</m:t>
                                              </m:r>
                                            </m:sub>
                                            <m:sup>
                                              <m:d>
                                                <m:dPr>
                                                  <m:ctrlP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0,0</m:t>
                                                  </m:r>
                                                </m:e>
                                              </m:d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(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𝐼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𝑅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sup>
                                          </m:sSubSup>
                                        </m:e>
                                        <m:e>
                                          <m:r>
                                            <a:rPr lang="fr-FR" i="1" smtClean="0">
                                              <a:solidFill>
                                                <a:schemeClr val="accent1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⋯</m:t>
                                          </m:r>
                                        </m:e>
                                        <m:e>
                                          <m:sSubSup>
                                            <m:sSubSupPr>
                                              <m:ctrlPr>
                                                <a:rPr lang="fr-FR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𝑐𝑜𝑣</m:t>
                                              </m:r>
                                            </m:e>
                                            <m:sub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𝐺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   0</m:t>
                                              </m:r>
                                            </m:sub>
                                            <m:sup>
                                              <m:d>
                                                <m:dPr>
                                                  <m:ctrlP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0,0</m:t>
                                                  </m:r>
                                                </m:e>
                                              </m:d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(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𝐼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𝑅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sup>
                                          </m:sSubSup>
                                        </m:e>
                                      </m:mr>
                                      <m:mr>
                                        <m:e>
                                          <m:r>
                                            <a:rPr lang="fr-FR" i="1" smtClean="0">
                                              <a:solidFill>
                                                <a:schemeClr val="accent1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⋮</m:t>
                                          </m:r>
                                        </m:e>
                                        <m:e>
                                          <m:r>
                                            <a:rPr lang="fr-FR" i="1" smtClean="0">
                                              <a:solidFill>
                                                <a:schemeClr val="accent1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⋱</m:t>
                                          </m:r>
                                        </m:e>
                                        <m:e>
                                          <m:r>
                                            <a:rPr lang="fr-FR" i="1" smtClean="0">
                                              <a:solidFill>
                                                <a:schemeClr val="accent1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⋮</m:t>
                                          </m:r>
                                        </m:e>
                                      </m:mr>
                                      <m:mr>
                                        <m:e>
                                          <m:sSubSup>
                                            <m:sSubSupPr>
                                              <m:ctrlPr>
                                                <a:rPr lang="fr-FR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𝑐𝑜𝑣</m:t>
                                              </m:r>
                                            </m:e>
                                            <m:sub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0,   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𝐺</m:t>
                                              </m:r>
                                            </m:sub>
                                            <m:sup>
                                              <m:d>
                                                <m:dPr>
                                                  <m:ctrlP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0,0</m:t>
                                                  </m:r>
                                                </m:e>
                                              </m:d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(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𝐼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𝑅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sup>
                                          </m:sSubSup>
                                        </m:e>
                                        <m:e>
                                          <m:r>
                                            <a:rPr lang="fr-FR" i="1" smtClean="0">
                                              <a:solidFill>
                                                <a:schemeClr val="accent1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⋯</m:t>
                                          </m:r>
                                        </m:e>
                                        <m:e>
                                          <m:sSubSup>
                                            <m:sSubSupPr>
                                              <m:ctrlPr>
                                                <a:rPr lang="fr-FR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𝑐𝑜𝑣</m:t>
                                              </m:r>
                                            </m:e>
                                            <m:sub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𝐺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   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𝐺</m:t>
                                              </m:r>
                                            </m:sub>
                                            <m:sup>
                                              <m:d>
                                                <m:dPr>
                                                  <m:ctrlP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0,0</m:t>
                                                  </m:r>
                                                </m:e>
                                              </m:d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(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𝐼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𝑅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sup>
                                          </m:sSubSup>
                                        </m:e>
                                      </m:mr>
                                    </m:m>
                                  </m:e>
                                </m:d>
                              </m:e>
                              <m:e>
                                <m:r>
                                  <a:rPr lang="fr-FR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fr-FR" i="1" smtClean="0">
                                        <a:solidFill>
                                          <a:schemeClr val="accent1">
                                            <a:lumMod val="50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m>
                                      <m:mPr>
                                        <m:mcs>
                                          <m:mc>
                                            <m:mcPr>
                                              <m:count m:val="3"/>
                                              <m:mcJc m:val="center"/>
                                            </m:mcPr>
                                          </m:mc>
                                        </m:mcs>
                                        <m:ctrlPr>
                                          <a:rPr lang="fr-FR" i="1" smtClean="0">
                                            <a:solidFill>
                                              <a:schemeClr val="accent1">
                                                <a:lumMod val="50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mPr>
                                      <m:mr>
                                        <m:e>
                                          <m:sSubSup>
                                            <m:sSubSupPr>
                                              <m:ctrlPr>
                                                <a:rPr lang="fr-FR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𝑐𝑜𝑣</m:t>
                                              </m:r>
                                            </m:e>
                                            <m:sub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0,   0</m:t>
                                              </m:r>
                                            </m:sub>
                                            <m:sup>
                                              <m:d>
                                                <m:dPr>
                                                  <m:ctrlP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5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5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𝐼</m:t>
                                                  </m:r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5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,</m:t>
                                                  </m:r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5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𝑅</m:t>
                                                  </m:r>
                                                </m:e>
                                              </m:d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(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𝐼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𝑅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sup>
                                          </m:sSubSup>
                                        </m:e>
                                        <m:e>
                                          <m:r>
                                            <a:rPr lang="fr-FR" i="1" smtClean="0">
                                              <a:solidFill>
                                                <a:schemeClr val="accent1">
                                                  <a:lumMod val="5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⋯</m:t>
                                          </m:r>
                                        </m:e>
                                        <m:e>
                                          <m:sSubSup>
                                            <m:sSubSupPr>
                                              <m:ctrlPr>
                                                <a:rPr lang="fr-FR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𝑐𝑜𝑣</m:t>
                                              </m:r>
                                            </m:e>
                                            <m:sub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𝐺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   0</m:t>
                                              </m:r>
                                            </m:sub>
                                            <m:sup>
                                              <m:d>
                                                <m:dPr>
                                                  <m:ctrlP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5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5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𝐼</m:t>
                                                  </m:r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5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,</m:t>
                                                  </m:r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5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𝑅</m:t>
                                                  </m:r>
                                                </m:e>
                                              </m:d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(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𝐼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𝑅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sup>
                                          </m:sSubSup>
                                        </m:e>
                                      </m:mr>
                                      <m:mr>
                                        <m:e>
                                          <m:r>
                                            <a:rPr lang="fr-FR" i="1" smtClean="0">
                                              <a:solidFill>
                                                <a:schemeClr val="accent1">
                                                  <a:lumMod val="5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⋮</m:t>
                                          </m:r>
                                        </m:e>
                                        <m:e>
                                          <m:r>
                                            <a:rPr lang="fr-FR" i="1" smtClean="0">
                                              <a:solidFill>
                                                <a:schemeClr val="accent1">
                                                  <a:lumMod val="5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⋱</m:t>
                                          </m:r>
                                        </m:e>
                                        <m:e>
                                          <m:r>
                                            <a:rPr lang="fr-FR" i="1" smtClean="0">
                                              <a:solidFill>
                                                <a:schemeClr val="accent1">
                                                  <a:lumMod val="5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⋮</m:t>
                                          </m:r>
                                        </m:e>
                                      </m:mr>
                                      <m:mr>
                                        <m:e>
                                          <m:sSubSup>
                                            <m:sSubSupPr>
                                              <m:ctrlPr>
                                                <a:rPr lang="fr-FR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𝑐𝑜𝑣</m:t>
                                              </m:r>
                                            </m:e>
                                            <m:sub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0,   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𝐺</m:t>
                                              </m:r>
                                            </m:sub>
                                            <m:sup>
                                              <m:d>
                                                <m:dPr>
                                                  <m:ctrlP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5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5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𝐼</m:t>
                                                  </m:r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5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,</m:t>
                                                  </m:r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5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𝑅</m:t>
                                                  </m:r>
                                                </m:e>
                                              </m:d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(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𝐼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𝑅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sup>
                                          </m:sSubSup>
                                        </m:e>
                                        <m:e>
                                          <m:r>
                                            <a:rPr lang="fr-FR" i="1" smtClean="0">
                                              <a:solidFill>
                                                <a:schemeClr val="accent1">
                                                  <a:lumMod val="5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⋯</m:t>
                                          </m:r>
                                        </m:e>
                                        <m:e>
                                          <m:sSubSup>
                                            <m:sSubSupPr>
                                              <m:ctrlPr>
                                                <a:rPr lang="fr-FR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𝑐𝑜𝑣</m:t>
                                              </m:r>
                                            </m:e>
                                            <m:sub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𝐺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   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𝐺</m:t>
                                              </m:r>
                                            </m:sub>
                                            <m:sup>
                                              <m:d>
                                                <m:dPr>
                                                  <m:ctrlP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5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5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𝐼</m:t>
                                                  </m:r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5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,</m:t>
                                                  </m:r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5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𝑅</m:t>
                                                  </m:r>
                                                </m:e>
                                              </m:d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(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𝐼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𝑅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sup>
                                          </m:sSubSup>
                                        </m:e>
                                      </m:mr>
                                    </m:m>
                                  </m:e>
                                </m:d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F698F51-A157-2002-1F39-D8D70D8617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6180" y="2017888"/>
                <a:ext cx="7403501" cy="230338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ight Brace 4">
            <a:extLst>
              <a:ext uri="{FF2B5EF4-FFF2-40B4-BE49-F238E27FC236}">
                <a16:creationId xmlns:a16="http://schemas.microsoft.com/office/drawing/2014/main" id="{2253D843-FE56-C5CA-2890-384B3867E555}"/>
              </a:ext>
            </a:extLst>
          </p:cNvPr>
          <p:cNvSpPr/>
          <p:nvPr/>
        </p:nvSpPr>
        <p:spPr>
          <a:xfrm rot="5400000">
            <a:off x="4512580" y="2991925"/>
            <a:ext cx="257174" cy="3148685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E9E565E-6505-61CE-4150-BB8E3154081B}"/>
              </a:ext>
            </a:extLst>
          </p:cNvPr>
          <p:cNvSpPr txBox="1"/>
          <p:nvPr/>
        </p:nvSpPr>
        <p:spPr>
          <a:xfrm>
            <a:off x="3143225" y="4803742"/>
            <a:ext cx="307228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i="1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Cov</a:t>
            </a:r>
            <a:r>
              <a:rPr lang="fr-FR" i="1" baseline="30000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(0,0), (I,R)</a:t>
            </a:r>
            <a:r>
              <a:rPr lang="fr-FR" i="1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: variances-covariances </a:t>
            </a:r>
            <a:r>
              <a:rPr lang="fr-FR" i="1" dirty="0" err="1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sub</a:t>
            </a:r>
            <a:r>
              <a:rPr lang="fr-FR" i="1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-matrix </a:t>
            </a:r>
            <a:r>
              <a:rPr lang="fr-FR" i="1" dirty="0" err="1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between</a:t>
            </a:r>
            <a:r>
              <a:rPr lang="fr-FR" i="1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the </a:t>
            </a:r>
            <a:r>
              <a:rPr lang="fr-FR" i="1" dirty="0" err="1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reaction</a:t>
            </a:r>
            <a:r>
              <a:rPr lang="fr-FR" i="1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0 of isotope 0 and the </a:t>
            </a:r>
            <a:r>
              <a:rPr lang="fr-FR" i="1" dirty="0" err="1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reaction</a:t>
            </a:r>
            <a:r>
              <a:rPr lang="fr-FR" i="1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R of isotope I.</a:t>
            </a:r>
          </a:p>
        </p:txBody>
      </p:sp>
      <p:sp>
        <p:nvSpPr>
          <p:cNvPr id="2" name="TextBox 7">
            <a:extLst>
              <a:ext uri="{FF2B5EF4-FFF2-40B4-BE49-F238E27FC236}">
                <a16:creationId xmlns:a16="http://schemas.microsoft.com/office/drawing/2014/main" id="{79086208-A646-AD5D-3EE0-8392E14B1F90}"/>
              </a:ext>
            </a:extLst>
          </p:cNvPr>
          <p:cNvSpPr txBox="1"/>
          <p:nvPr/>
        </p:nvSpPr>
        <p:spPr>
          <a:xfrm>
            <a:off x="3671793" y="1516686"/>
            <a:ext cx="59704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chemeClr val="accent1">
                    <a:lumMod val="60000"/>
                    <a:lumOff val="40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(0, 0)	 	…	  	(I, R)</a:t>
            </a:r>
          </a:p>
        </p:txBody>
      </p:sp>
      <p:sp>
        <p:nvSpPr>
          <p:cNvPr id="4" name="TextBox 7">
            <a:extLst>
              <a:ext uri="{FF2B5EF4-FFF2-40B4-BE49-F238E27FC236}">
                <a16:creationId xmlns:a16="http://schemas.microsoft.com/office/drawing/2014/main" id="{4FF8F3B8-7104-FA75-38BF-DB6F57ECEEC8}"/>
              </a:ext>
            </a:extLst>
          </p:cNvPr>
          <p:cNvSpPr txBox="1"/>
          <p:nvPr/>
        </p:nvSpPr>
        <p:spPr>
          <a:xfrm>
            <a:off x="2084408" y="2430917"/>
            <a:ext cx="716863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dirty="0">
                <a:solidFill>
                  <a:schemeClr val="accent1">
                    <a:lumMod val="60000"/>
                    <a:lumOff val="40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(0, 0)</a:t>
            </a:r>
          </a:p>
          <a:p>
            <a:pPr algn="ctr"/>
            <a:endParaRPr lang="fr-FR" dirty="0">
              <a:solidFill>
                <a:schemeClr val="accent1">
                  <a:lumMod val="60000"/>
                  <a:lumOff val="40000"/>
                </a:schemeClr>
              </a:solidFill>
              <a:latin typeface="Cambria" panose="02040503050406030204" pitchFamily="18" charset="0"/>
              <a:ea typeface="Cambria" panose="020405030504060302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fr-FR" dirty="0">
                <a:solidFill>
                  <a:schemeClr val="accent1">
                    <a:lumMod val="60000"/>
                    <a:lumOff val="40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…</a:t>
            </a:r>
          </a:p>
          <a:p>
            <a:pPr algn="ctr"/>
            <a:endParaRPr lang="fr-FR" dirty="0">
              <a:solidFill>
                <a:schemeClr val="accent1">
                  <a:lumMod val="60000"/>
                  <a:lumOff val="40000"/>
                </a:schemeClr>
              </a:solidFill>
              <a:latin typeface="Cambria" panose="02040503050406030204" pitchFamily="18" charset="0"/>
              <a:ea typeface="Cambria" panose="020405030504060302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fr-FR" dirty="0">
                <a:solidFill>
                  <a:schemeClr val="accent1">
                    <a:lumMod val="60000"/>
                    <a:lumOff val="40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(I, R)</a:t>
            </a:r>
          </a:p>
        </p:txBody>
      </p:sp>
      <p:sp>
        <p:nvSpPr>
          <p:cNvPr id="6" name="TextBox 7">
            <a:extLst>
              <a:ext uri="{FF2B5EF4-FFF2-40B4-BE49-F238E27FC236}">
                <a16:creationId xmlns:a16="http://schemas.microsoft.com/office/drawing/2014/main" id="{AFC8E838-7A04-1AB9-9EC4-FFA523F83CB5}"/>
              </a:ext>
            </a:extLst>
          </p:cNvPr>
          <p:cNvSpPr txBox="1"/>
          <p:nvPr/>
        </p:nvSpPr>
        <p:spPr>
          <a:xfrm>
            <a:off x="2064700" y="1442042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chemeClr val="accent1">
                    <a:lumMod val="60000"/>
                    <a:lumOff val="40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(i, r)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DC1800F-7825-EC04-2E72-6DAA39A18645}"/>
              </a:ext>
            </a:extLst>
          </p:cNvPr>
          <p:cNvSpPr/>
          <p:nvPr/>
        </p:nvSpPr>
        <p:spPr>
          <a:xfrm>
            <a:off x="2064700" y="1442042"/>
            <a:ext cx="653532" cy="380257"/>
          </a:xfrm>
          <a:prstGeom prst="rect">
            <a:avLst/>
          </a:prstGeom>
          <a:noFill/>
          <a:ln w="1905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" name="Flèche : bas 18">
            <a:extLst>
              <a:ext uri="{FF2B5EF4-FFF2-40B4-BE49-F238E27FC236}">
                <a16:creationId xmlns:a16="http://schemas.microsoft.com/office/drawing/2014/main" id="{730C89CE-EB3C-0E9D-0CF4-031133840031}"/>
              </a:ext>
            </a:extLst>
          </p:cNvPr>
          <p:cNvSpPr/>
          <p:nvPr/>
        </p:nvSpPr>
        <p:spPr>
          <a:xfrm>
            <a:off x="2375966" y="3882013"/>
            <a:ext cx="119932" cy="380257"/>
          </a:xfrm>
          <a:prstGeom prst="downArrow">
            <a:avLst>
              <a:gd name="adj1" fmla="val 50000"/>
              <a:gd name="adj2" fmla="val 117560"/>
            </a:avLst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0" name="Flèche : bas 19">
            <a:extLst>
              <a:ext uri="{FF2B5EF4-FFF2-40B4-BE49-F238E27FC236}">
                <a16:creationId xmlns:a16="http://schemas.microsoft.com/office/drawing/2014/main" id="{585741CC-F57A-3BED-5BB2-1D4C37B1F641}"/>
              </a:ext>
            </a:extLst>
          </p:cNvPr>
          <p:cNvSpPr/>
          <p:nvPr/>
        </p:nvSpPr>
        <p:spPr>
          <a:xfrm rot="16200000">
            <a:off x="9349576" y="1151105"/>
            <a:ext cx="168443" cy="1152092"/>
          </a:xfrm>
          <a:prstGeom prst="downArrow">
            <a:avLst>
              <a:gd name="adj1" fmla="val 50000"/>
              <a:gd name="adj2" fmla="val 117560"/>
            </a:avLst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" name="TextBox 7">
            <a:extLst>
              <a:ext uri="{FF2B5EF4-FFF2-40B4-BE49-F238E27FC236}">
                <a16:creationId xmlns:a16="http://schemas.microsoft.com/office/drawing/2014/main" id="{28364741-4E78-1887-B9AC-1AF2108119B3}"/>
              </a:ext>
            </a:extLst>
          </p:cNvPr>
          <p:cNvSpPr txBox="1"/>
          <p:nvPr/>
        </p:nvSpPr>
        <p:spPr>
          <a:xfrm>
            <a:off x="3671793" y="1253910"/>
            <a:ext cx="59704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400" u="sng" spc="600" dirty="0">
                <a:solidFill>
                  <a:schemeClr val="accent1">
                    <a:lumMod val="60000"/>
                    <a:lumOff val="40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isotope-</a:t>
            </a:r>
            <a:r>
              <a:rPr lang="fr-FR" sz="1400" u="sng" spc="600" dirty="0" err="1">
                <a:solidFill>
                  <a:schemeClr val="accent1">
                    <a:lumMod val="60000"/>
                    <a:lumOff val="40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reaction</a:t>
            </a:r>
            <a:r>
              <a:rPr lang="fr-FR" sz="1400" u="sng" spc="600" dirty="0">
                <a:solidFill>
                  <a:schemeClr val="accent1">
                    <a:lumMod val="60000"/>
                    <a:lumOff val="40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</a:t>
            </a:r>
            <a:r>
              <a:rPr lang="fr-FR" sz="1400" u="sng" spc="600" dirty="0" err="1">
                <a:solidFill>
                  <a:schemeClr val="accent1">
                    <a:lumMod val="60000"/>
                    <a:lumOff val="40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list</a:t>
            </a:r>
            <a:r>
              <a:rPr lang="fr-FR" sz="1400" u="sng" spc="600" dirty="0">
                <a:solidFill>
                  <a:schemeClr val="accent1">
                    <a:lumMod val="60000"/>
                    <a:lumOff val="40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:</a:t>
            </a:r>
          </a:p>
        </p:txBody>
      </p:sp>
      <p:sp>
        <p:nvSpPr>
          <p:cNvPr id="22" name="TextBox 7">
            <a:extLst>
              <a:ext uri="{FF2B5EF4-FFF2-40B4-BE49-F238E27FC236}">
                <a16:creationId xmlns:a16="http://schemas.microsoft.com/office/drawing/2014/main" id="{38D5F5E1-F2AF-F5C3-9907-28355DD6FC52}"/>
              </a:ext>
            </a:extLst>
          </p:cNvPr>
          <p:cNvSpPr txBox="1"/>
          <p:nvPr/>
        </p:nvSpPr>
        <p:spPr>
          <a:xfrm rot="16200000">
            <a:off x="451645" y="3048029"/>
            <a:ext cx="30582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400" u="sng" spc="300" dirty="0">
                <a:solidFill>
                  <a:schemeClr val="accent1">
                    <a:lumMod val="60000"/>
                    <a:lumOff val="40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isotope-</a:t>
            </a:r>
            <a:r>
              <a:rPr lang="fr-FR" sz="1400" u="sng" spc="300" dirty="0" err="1">
                <a:solidFill>
                  <a:schemeClr val="accent1">
                    <a:lumMod val="60000"/>
                    <a:lumOff val="40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reaction</a:t>
            </a:r>
            <a:r>
              <a:rPr lang="fr-FR" sz="1400" u="sng" spc="300" dirty="0">
                <a:solidFill>
                  <a:schemeClr val="accent1">
                    <a:lumMod val="60000"/>
                    <a:lumOff val="40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</a:t>
            </a:r>
            <a:r>
              <a:rPr lang="fr-FR" sz="1400" u="sng" spc="300" dirty="0" err="1">
                <a:solidFill>
                  <a:schemeClr val="accent1">
                    <a:lumMod val="60000"/>
                    <a:lumOff val="40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list</a:t>
            </a:r>
            <a:r>
              <a:rPr lang="fr-FR" sz="1400" u="sng" spc="300" dirty="0">
                <a:solidFill>
                  <a:schemeClr val="accent1">
                    <a:lumMod val="60000"/>
                    <a:lumOff val="40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: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CB37394-4CFF-8337-DCCA-FBEA6959FB65}"/>
              </a:ext>
            </a:extLst>
          </p:cNvPr>
          <p:cNvSpPr/>
          <p:nvPr/>
        </p:nvSpPr>
        <p:spPr>
          <a:xfrm>
            <a:off x="6809441" y="1694851"/>
            <a:ext cx="1326777" cy="7464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C1B513A-CE35-34AA-63F0-BAE7DF88B66B}"/>
              </a:ext>
            </a:extLst>
          </p:cNvPr>
          <p:cNvSpPr/>
          <p:nvPr/>
        </p:nvSpPr>
        <p:spPr>
          <a:xfrm>
            <a:off x="5155447" y="1686020"/>
            <a:ext cx="1152094" cy="7464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48A7482-8B61-FCA8-9287-A7E069E395FC}"/>
              </a:ext>
            </a:extLst>
          </p:cNvPr>
          <p:cNvSpPr/>
          <p:nvPr/>
        </p:nvSpPr>
        <p:spPr>
          <a:xfrm>
            <a:off x="2721282" y="1677170"/>
            <a:ext cx="1806768" cy="7464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ED17877-130D-9B0E-7962-C90582B4ABB3}"/>
              </a:ext>
            </a:extLst>
          </p:cNvPr>
          <p:cNvSpPr/>
          <p:nvPr/>
        </p:nvSpPr>
        <p:spPr>
          <a:xfrm rot="5400000">
            <a:off x="2141178" y="2080511"/>
            <a:ext cx="586771" cy="7034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BF23221-91C6-1488-DB5B-5D4B7719BB24}"/>
              </a:ext>
            </a:extLst>
          </p:cNvPr>
          <p:cNvSpPr/>
          <p:nvPr/>
        </p:nvSpPr>
        <p:spPr>
          <a:xfrm rot="5400000">
            <a:off x="2287525" y="2937510"/>
            <a:ext cx="302903" cy="6151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56FBCA8-71CC-5DFD-E1F4-3A187AFD0F8E}"/>
              </a:ext>
            </a:extLst>
          </p:cNvPr>
          <p:cNvSpPr/>
          <p:nvPr/>
        </p:nvSpPr>
        <p:spPr>
          <a:xfrm rot="5400000">
            <a:off x="2326635" y="3433488"/>
            <a:ext cx="232411" cy="6151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662275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9896108C-CF1D-F0C6-3900-DE7A999FB0E0}"/>
              </a:ext>
            </a:extLst>
          </p:cNvPr>
          <p:cNvSpPr txBox="1"/>
          <p:nvPr/>
        </p:nvSpPr>
        <p:spPr>
          <a:xfrm>
            <a:off x="3175635" y="781050"/>
            <a:ext cx="54305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b="1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Δk</a:t>
            </a:r>
            <a:r>
              <a:rPr lang="fr-FR" sz="2800" b="1" baseline="-25000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C-E bench</a:t>
            </a:r>
            <a:r>
              <a:rPr lang="fr-FR" sz="2800" b="1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</a:t>
            </a:r>
            <a:r>
              <a:rPr lang="fr-FR" sz="2000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:  </a:t>
            </a:r>
            <a:r>
              <a:rPr lang="fr-FR" sz="2000" dirty="0" err="1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experimental</a:t>
            </a:r>
            <a:r>
              <a:rPr lang="fr-FR" sz="2000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C-E </a:t>
            </a:r>
            <a:r>
              <a:rPr lang="fr-FR" sz="2000" dirty="0" err="1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vector</a:t>
            </a:r>
            <a:endParaRPr lang="fr-FR" dirty="0">
              <a:latin typeface="Cambria" panose="02040503050406030204" pitchFamily="18" charset="0"/>
              <a:ea typeface="Cambria" panose="020405030504060302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CD161CA-9ACB-E692-10A6-B8007B24E784}"/>
                  </a:ext>
                </a:extLst>
              </p:cNvPr>
              <p:cNvSpPr txBox="1"/>
              <p:nvPr/>
            </p:nvSpPr>
            <p:spPr>
              <a:xfrm>
                <a:off x="2726106" y="3121347"/>
                <a:ext cx="6096000" cy="1412759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marL="228600"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dirty="0" smtClean="0">
                        <a:latin typeface="Cambria Math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rPr>
                      <m:t>Δ</m:t>
                    </m:r>
                    <m:r>
                      <a:rPr lang="fr-FR" i="1" dirty="0">
                        <a:latin typeface="Cambria Math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sSup>
                      <m:sSupPr>
                        <m:ctrlPr>
                          <a:rPr lang="fr-FR" i="1" dirty="0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𝑒𝑓𝑓</m:t>
                            </m:r>
                          </m:sub>
                        </m:sSub>
                      </m:e>
                      <m:sup>
                        <m:r>
                          <a:rPr lang="fr-FR" i="1" dirty="0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𝑗</m:t>
                        </m:r>
                      </m:sup>
                    </m:sSup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sz="1800" i="1" kern="100" smtClean="0">
                                <a:effectLst/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SupPr>
                          <m:e>
                            <m:r>
                              <a:rPr lang="fr-FR" sz="1800" b="0" i="1" kern="100" smtClean="0">
                                <a:effectLst/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fr-FR" sz="1800" b="0" i="1" kern="100" smtClean="0">
                                <a:effectLst/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𝑒𝑓𝑓</m:t>
                            </m:r>
                          </m:sub>
                          <m:sup>
                            <m:r>
                              <a:rPr lang="fr-FR" sz="1800" b="0" i="1" kern="100" smtClean="0">
                                <a:effectLst/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𝑐𝑎𝑙𝑐</m:t>
                            </m:r>
                          </m:sup>
                        </m:sSubSup>
                        <m:r>
                          <a:rPr lang="fr-FR" sz="1800" b="0" i="1" kern="100" smtClean="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SupPr>
                          <m:e>
                            <m:r>
                              <a:rPr lang="fr-FR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fr-FR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𝑒𝑓𝑓</m:t>
                            </m:r>
                          </m:sub>
                          <m:sup>
                            <m:r>
                              <a:rPr lang="fr-FR" b="0" i="1" kern="10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𝑒𝑥𝑝</m:t>
                            </m:r>
                          </m:sup>
                        </m:sSubSup>
                      </m:num>
                      <m:den>
                        <m:sSubSup>
                          <m:sSubSupPr>
                            <m:ctrlPr>
                              <a:rPr lang="fr-FR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SupPr>
                          <m:e>
                            <m:r>
                              <a:rPr lang="fr-FR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fr-FR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𝑒𝑓𝑓</m:t>
                            </m:r>
                          </m:sub>
                          <m:sup>
                            <m:r>
                              <a:rPr lang="fr-FR" b="0" i="1" kern="10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𝑐𝑎𝑙𝑐</m:t>
                            </m:r>
                          </m:sup>
                        </m:sSubSup>
                      </m:den>
                    </m:f>
                  </m:oMath>
                </a14:m>
                <a:r>
                  <a:rPr lang="fr-FR" sz="18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  </a:t>
                </a:r>
                <a:r>
                  <a:rPr lang="fr-FR" sz="18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: relativ</a:t>
                </a:r>
                <a:r>
                  <a:rPr lang="fr-FR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e </a:t>
                </a:r>
                <a:r>
                  <a:rPr lang="fr-FR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discrepancy</a:t>
                </a:r>
                <a:r>
                  <a:rPr lang="fr-FR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fr-FR" sz="1800" i="1" kern="1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between</a:t>
                </a:r>
                <a:r>
                  <a:rPr lang="fr-FR" sz="18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fr-FR" sz="1800" i="1" kern="1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calculated</a:t>
                </a:r>
                <a:r>
                  <a:rPr lang="fr-FR" sz="18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and </a:t>
                </a:r>
                <a:r>
                  <a:rPr lang="fr-FR" sz="1800" i="1" kern="1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experimental</a:t>
                </a:r>
                <a:r>
                  <a:rPr lang="fr-FR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k</a:t>
                </a:r>
                <a:r>
                  <a:rPr lang="fr-FR" i="1" kern="100" baseline="-250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eff</a:t>
                </a:r>
                <a:r>
                  <a:rPr lang="fr-FR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fr-FR" sz="18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, </a:t>
                </a:r>
                <a:r>
                  <a:rPr lang="fr-FR" sz="1800" b="1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in %</a:t>
                </a:r>
                <a:r>
                  <a:rPr lang="fr-FR" sz="18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.</a:t>
                </a:r>
                <a:endParaRPr lang="fr-FR" i="1" kern="100" dirty="0">
                  <a:latin typeface="Cambria" panose="02040503050406030204" pitchFamily="18" charset="0"/>
                  <a:ea typeface="Cambria" panose="02040503050406030204" pitchFamily="18" charset="0"/>
                  <a:cs typeface="Times New Roman" panose="02020603050405020304" pitchFamily="18" charset="0"/>
                </a:endParaRPr>
              </a:p>
              <a:p>
                <a:pPr marL="228600"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fr-FR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With</a:t>
                </a:r>
                <a:r>
                  <a:rPr lang="fr-FR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j </a:t>
                </a:r>
                <a:r>
                  <a:rPr lang="fr-FR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going</a:t>
                </a:r>
                <a:r>
                  <a:rPr lang="fr-FR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fr-FR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from</a:t>
                </a:r>
                <a:r>
                  <a:rPr lang="fr-FR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benchmark case 0 to J.</a:t>
                </a:r>
                <a:endParaRPr lang="fr-FR" kern="100" dirty="0">
                  <a:effectLst/>
                  <a:latin typeface="Cambria" panose="02040503050406030204" pitchFamily="18" charset="0"/>
                  <a:ea typeface="Cambria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CD161CA-9ACB-E692-10A6-B8007B24E7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6106" y="3121347"/>
                <a:ext cx="6096000" cy="1412759"/>
              </a:xfrm>
              <a:prstGeom prst="rect">
                <a:avLst/>
              </a:prstGeom>
              <a:blipFill>
                <a:blip r:embed="rId2"/>
                <a:stretch>
                  <a:fillRect b="-4274"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0">
                <a:extLst>
                  <a:ext uri="{FF2B5EF4-FFF2-40B4-BE49-F238E27FC236}">
                    <a16:creationId xmlns:a16="http://schemas.microsoft.com/office/drawing/2014/main" id="{206EE5C7-97E6-7BF0-1634-F5B0E16E1119}"/>
                  </a:ext>
                </a:extLst>
              </p:cNvPr>
              <p:cNvSpPr txBox="1"/>
              <p:nvPr/>
            </p:nvSpPr>
            <p:spPr>
              <a:xfrm>
                <a:off x="7123735" y="2433199"/>
                <a:ext cx="1698371" cy="536622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marL="228600"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 xmlns:m="http://schemas.openxmlformats.org/officeDocument/2006/math">
                    <m:r>
                      <a:rPr lang="fr-FR" sz="1400" i="1" kern="10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𝐷</m:t>
                    </m:r>
                    <m:r>
                      <a:rPr lang="fr-FR" sz="1400" b="0" i="1" kern="10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𝐼𝑀</m:t>
                    </m:r>
                    <m:r>
                      <a:rPr lang="fr-FR" sz="1400" b="0" i="1" kern="10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 : </m:t>
                    </m:r>
                  </m:oMath>
                </a14:m>
                <a:r>
                  <a:rPr lang="fr-FR" sz="14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1D </a:t>
                </a:r>
                <a:r>
                  <a:rPr lang="fr-FR" sz="14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 J	</a:t>
                </a:r>
                <a:endParaRPr lang="fr-FR" sz="1400" kern="100" dirty="0">
                  <a:effectLst/>
                  <a:latin typeface="Cambria" panose="02040503050406030204" pitchFamily="18" charset="0"/>
                  <a:ea typeface="Cambria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TextBox 20">
                <a:extLst>
                  <a:ext uri="{FF2B5EF4-FFF2-40B4-BE49-F238E27FC236}">
                    <a16:creationId xmlns:a16="http://schemas.microsoft.com/office/drawing/2014/main" id="{206EE5C7-97E6-7BF0-1634-F5B0E16E11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23735" y="2433199"/>
                <a:ext cx="1698371" cy="536622"/>
              </a:xfrm>
              <a:prstGeom prst="rect">
                <a:avLst/>
              </a:prstGeom>
              <a:blipFill>
                <a:blip r:embed="rId3"/>
                <a:stretch>
                  <a:fillRect t="-3409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au 3">
                <a:extLst>
                  <a:ext uri="{FF2B5EF4-FFF2-40B4-BE49-F238E27FC236}">
                    <a16:creationId xmlns:a16="http://schemas.microsoft.com/office/drawing/2014/main" id="{EC367114-73A6-CF74-EAD2-41F8724D3DE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78891413"/>
                  </p:ext>
                </p:extLst>
              </p:nvPr>
            </p:nvGraphicFramePr>
            <p:xfrm>
              <a:off x="2841637" y="1771721"/>
              <a:ext cx="5121265" cy="517526"/>
            </p:xfrm>
            <a:graphic>
              <a:graphicData uri="http://schemas.openxmlformats.org/drawingml/2006/table">
                <a:tbl>
                  <a:tblPr>
                    <a:effectLst>
                      <a:innerShdw blurRad="406400" dist="571500">
                        <a:schemeClr val="bg1"/>
                      </a:innerShdw>
                    </a:effectLst>
                  </a:tblPr>
                  <a:tblGrid>
                    <a:gridCol w="1024253">
                      <a:extLst>
                        <a:ext uri="{9D8B030D-6E8A-4147-A177-3AD203B41FA5}">
                          <a16:colId xmlns:a16="http://schemas.microsoft.com/office/drawing/2014/main" val="2402601773"/>
                        </a:ext>
                      </a:extLst>
                    </a:gridCol>
                    <a:gridCol w="1024253">
                      <a:extLst>
                        <a:ext uri="{9D8B030D-6E8A-4147-A177-3AD203B41FA5}">
                          <a16:colId xmlns:a16="http://schemas.microsoft.com/office/drawing/2014/main" val="1000514895"/>
                        </a:ext>
                      </a:extLst>
                    </a:gridCol>
                    <a:gridCol w="1024253">
                      <a:extLst>
                        <a:ext uri="{9D8B030D-6E8A-4147-A177-3AD203B41FA5}">
                          <a16:colId xmlns:a16="http://schemas.microsoft.com/office/drawing/2014/main" val="355719196"/>
                        </a:ext>
                      </a:extLst>
                    </a:gridCol>
                    <a:gridCol w="1024253">
                      <a:extLst>
                        <a:ext uri="{9D8B030D-6E8A-4147-A177-3AD203B41FA5}">
                          <a16:colId xmlns:a16="http://schemas.microsoft.com/office/drawing/2014/main" val="2366797465"/>
                        </a:ext>
                      </a:extLst>
                    </a:gridCol>
                    <a:gridCol w="1024253">
                      <a:extLst>
                        <a:ext uri="{9D8B030D-6E8A-4147-A177-3AD203B41FA5}">
                          <a16:colId xmlns:a16="http://schemas.microsoft.com/office/drawing/2014/main" val="3437909728"/>
                        </a:ext>
                      </a:extLst>
                    </a:gridCol>
                  </a:tblGrid>
                  <a:tr h="51752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fr-FR" sz="1800" b="0" dirty="0" smtClean="0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Δ</m:t>
                                </m:r>
                                <m:r>
                                  <a:rPr lang="fr-FR" sz="1800" b="0" i="1" dirty="0" smtClean="0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 </m:t>
                                </m:r>
                                <m:sSup>
                                  <m:sSupPr>
                                    <m:ctrlPr>
                                      <a:rPr lang="fr-FR" sz="1800" b="0" i="1" dirty="0" smtClean="0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pPr>
                                  <m:e>
                                    <m:sSub>
                                      <m:sSubPr>
                                        <m:ctrlP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  <m:sub>
                                        <m: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  <m:t>𝑒𝑓𝑓</m:t>
                                        </m:r>
                                      </m:sub>
                                    </m:sSub>
                                  </m:e>
                                  <m:sup>
                                    <m:r>
                                      <a:rPr lang="fr-FR" sz="1800" b="0" i="1" dirty="0" smtClean="0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𝑗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b="0" dirty="0"/>
                        </a:p>
                      </a:txBody>
                      <a:tcPr anchor="ctr">
                        <a:lnL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fr-FR" sz="1800" b="0" dirty="0" smtClean="0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Δ</m:t>
                                </m:r>
                                <m:r>
                                  <a:rPr lang="fr-FR" sz="1800" b="0" i="1" dirty="0" smtClean="0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 </m:t>
                                </m:r>
                                <m:sSup>
                                  <m:sSupPr>
                                    <m:ctrlPr>
                                      <a:rPr lang="fr-FR" sz="1800" b="0" i="1" dirty="0" smtClean="0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pPr>
                                  <m:e>
                                    <m:sSub>
                                      <m:sSubPr>
                                        <m:ctrlP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  <m:sub>
                                        <m: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  <m:t>𝑒𝑓𝑓</m:t>
                                        </m:r>
                                      </m:sub>
                                    </m:sSub>
                                  </m:e>
                                  <m:sup>
                                    <m:r>
                                      <a:rPr lang="fr-FR" sz="1800" b="0" i="1" dirty="0" smtClean="0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𝑗</m:t>
                                    </m:r>
                                    <m:r>
                                      <a:rPr lang="fr-FR" sz="1800" b="0" i="1" dirty="0" smtClean="0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+1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b="0" dirty="0"/>
                        </a:p>
                      </a:txBody>
                      <a:tcPr anchor="ctr">
                        <a:lnL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fr-FR" sz="1800" b="0" dirty="0" smtClean="0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Δ</m:t>
                                </m:r>
                                <m:r>
                                  <a:rPr lang="fr-FR" sz="1800" b="0" i="1" dirty="0" smtClean="0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 </m:t>
                                </m:r>
                                <m:sSup>
                                  <m:sSupPr>
                                    <m:ctrlPr>
                                      <a:rPr lang="fr-FR" sz="1800" b="0" i="1" dirty="0" smtClean="0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pPr>
                                  <m:e>
                                    <m:sSub>
                                      <m:sSubPr>
                                        <m:ctrlP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  <m:sub>
                                        <m: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  <m:t>𝑒𝑓𝑓</m:t>
                                        </m:r>
                                      </m:sub>
                                    </m:sSub>
                                  </m:e>
                                  <m:sup>
                                    <m:r>
                                      <a:rPr lang="fr-FR" sz="1800" b="0" i="1" dirty="0" smtClean="0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𝑗</m:t>
                                    </m:r>
                                    <m:r>
                                      <a:rPr lang="fr-FR" sz="1800" b="0" i="1" dirty="0" smtClean="0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+2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b="0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2033857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au 3">
                <a:extLst>
                  <a:ext uri="{FF2B5EF4-FFF2-40B4-BE49-F238E27FC236}">
                    <a16:creationId xmlns:a16="http://schemas.microsoft.com/office/drawing/2014/main" id="{EC367114-73A6-CF74-EAD2-41F8724D3DE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78891413"/>
                  </p:ext>
                </p:extLst>
              </p:nvPr>
            </p:nvGraphicFramePr>
            <p:xfrm>
              <a:off x="2841637" y="1771721"/>
              <a:ext cx="5121265" cy="517526"/>
            </p:xfrm>
            <a:graphic>
              <a:graphicData uri="http://schemas.openxmlformats.org/drawingml/2006/table">
                <a:tbl>
                  <a:tblPr>
                    <a:effectLst>
                      <a:innerShdw blurRad="406400" dist="571500">
                        <a:schemeClr val="bg1"/>
                      </a:innerShdw>
                    </a:effectLst>
                  </a:tblPr>
                  <a:tblGrid>
                    <a:gridCol w="1024253">
                      <a:extLst>
                        <a:ext uri="{9D8B030D-6E8A-4147-A177-3AD203B41FA5}">
                          <a16:colId xmlns:a16="http://schemas.microsoft.com/office/drawing/2014/main" val="2402601773"/>
                        </a:ext>
                      </a:extLst>
                    </a:gridCol>
                    <a:gridCol w="1024253">
                      <a:extLst>
                        <a:ext uri="{9D8B030D-6E8A-4147-A177-3AD203B41FA5}">
                          <a16:colId xmlns:a16="http://schemas.microsoft.com/office/drawing/2014/main" val="1000514895"/>
                        </a:ext>
                      </a:extLst>
                    </a:gridCol>
                    <a:gridCol w="1024253">
                      <a:extLst>
                        <a:ext uri="{9D8B030D-6E8A-4147-A177-3AD203B41FA5}">
                          <a16:colId xmlns:a16="http://schemas.microsoft.com/office/drawing/2014/main" val="355719196"/>
                        </a:ext>
                      </a:extLst>
                    </a:gridCol>
                    <a:gridCol w="1024253">
                      <a:extLst>
                        <a:ext uri="{9D8B030D-6E8A-4147-A177-3AD203B41FA5}">
                          <a16:colId xmlns:a16="http://schemas.microsoft.com/office/drawing/2014/main" val="2366797465"/>
                        </a:ext>
                      </a:extLst>
                    </a:gridCol>
                    <a:gridCol w="1024253">
                      <a:extLst>
                        <a:ext uri="{9D8B030D-6E8A-4147-A177-3AD203B41FA5}">
                          <a16:colId xmlns:a16="http://schemas.microsoft.com/office/drawing/2014/main" val="3437909728"/>
                        </a:ext>
                      </a:extLst>
                    </a:gridCol>
                  </a:tblGrid>
                  <a:tr h="51752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4"/>
                          <a:stretch>
                            <a:fillRect l="-101190" t="-1163" r="-301190" b="-348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4"/>
                          <a:stretch>
                            <a:fillRect l="-200000" t="-1163" r="-199408" b="-348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4"/>
                          <a:stretch>
                            <a:fillRect l="-301786" t="-1163" r="-100595" b="-348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20338573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917843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C78D2325-D930-9BFE-044A-FF619E347EF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146074914"/>
                  </p:ext>
                </p:extLst>
              </p:nvPr>
            </p:nvGraphicFramePr>
            <p:xfrm>
              <a:off x="3635447" y="816267"/>
              <a:ext cx="4464284" cy="3685784"/>
            </p:xfrm>
            <a:graphic>
              <a:graphicData uri="http://schemas.openxmlformats.org/drawingml/2006/table">
                <a:tbl>
                  <a:tblPr firstRow="1" bandRow="1">
                    <a:effectLst/>
                    <a:tableStyleId>{D7AC3CCA-C797-4891-BE02-D94E43425B78}</a:tableStyleId>
                  </a:tblPr>
                  <a:tblGrid>
                    <a:gridCol w="1116071">
                      <a:extLst>
                        <a:ext uri="{9D8B030D-6E8A-4147-A177-3AD203B41FA5}">
                          <a16:colId xmlns:a16="http://schemas.microsoft.com/office/drawing/2014/main" val="710713661"/>
                        </a:ext>
                      </a:extLst>
                    </a:gridCol>
                    <a:gridCol w="1116071">
                      <a:extLst>
                        <a:ext uri="{9D8B030D-6E8A-4147-A177-3AD203B41FA5}">
                          <a16:colId xmlns:a16="http://schemas.microsoft.com/office/drawing/2014/main" val="2331507066"/>
                        </a:ext>
                      </a:extLst>
                    </a:gridCol>
                    <a:gridCol w="1116071">
                      <a:extLst>
                        <a:ext uri="{9D8B030D-6E8A-4147-A177-3AD203B41FA5}">
                          <a16:colId xmlns:a16="http://schemas.microsoft.com/office/drawing/2014/main" val="1042432262"/>
                        </a:ext>
                      </a:extLst>
                    </a:gridCol>
                    <a:gridCol w="1116071">
                      <a:extLst>
                        <a:ext uri="{9D8B030D-6E8A-4147-A177-3AD203B41FA5}">
                          <a16:colId xmlns:a16="http://schemas.microsoft.com/office/drawing/2014/main" val="2874601091"/>
                        </a:ext>
                      </a:extLst>
                    </a:gridCol>
                  </a:tblGrid>
                  <a:tr h="90372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 dirty="0">
                              <a:latin typeface="Cambria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800" b="0" dirty="0">
                              <a:latin typeface="Cambria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800" b="0" dirty="0">
                              <a:latin typeface="Cambria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800" b="0" dirty="0">
                              <a:latin typeface="Cambria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88544930"/>
                      </a:ext>
                    </a:extLst>
                  </a:tr>
                  <a:tr h="90372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800" b="0">
                              <a:latin typeface="Cambria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  <a:endParaRPr lang="fr-FR" sz="1800" b="0" dirty="0">
                            <a:latin typeface="Cambria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fr-FR" sz="1800" b="0" i="1" smtClean="0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fr-FR" sz="1800" b="0" i="1" smtClean="0">
                                            <a:latin typeface="Cambria Math" panose="02040503050406030204" pitchFamily="18" charset="0"/>
                                            <a:ea typeface="Cambria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sSupPr>
                                      <m:e>
                                        <m:sSubSup>
                                          <m:sSubSupPr>
                                            <m:ctrlPr>
                                              <a:rPr lang="fr-FR" sz="1800" b="0" i="1" smtClean="0">
                                                <a:latin typeface="Cambria Math" panose="02040503050406030204" pitchFamily="18" charset="0"/>
                                                <a:ea typeface="Cambria" panose="02040503050406030204" pitchFamily="18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fr-FR" sz="18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fr-FR" sz="1800" b="0" i="1" smtClean="0">
                                                <a:latin typeface="Cambria Math" panose="02040503050406030204" pitchFamily="18" charset="0"/>
                                                <a:ea typeface="Cambria" panose="020405030504060302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𝑒𝑥𝑝</m:t>
                                            </m:r>
                                          </m:sub>
                                          <m:sup>
                                            <m:r>
                                              <a:rPr lang="fr-FR" sz="1800" b="0" i="1" smtClean="0">
                                                <a:latin typeface="Cambria Math" panose="02040503050406030204" pitchFamily="18" charset="0"/>
                                                <a:ea typeface="Cambria" panose="020405030504060302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𝑗</m:t>
                                            </m:r>
                                          </m:sup>
                                        </m:sSubSup>
                                      </m:e>
                                      <m:sup>
                                        <m:r>
                                          <a:rPr lang="fr-FR" sz="1800" b="0" i="1" smtClean="0">
                                            <a:latin typeface="Cambria Math" panose="02040503050406030204" pitchFamily="18" charset="0"/>
                                            <a:ea typeface="Cambria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sSup>
                                      <m:sSupPr>
                                        <m:ctrlPr>
                                          <a:rPr lang="fr-FR" sz="1800" b="0" i="1" smtClean="0">
                                            <a:latin typeface="Cambria Math" panose="02040503050406030204" pitchFamily="18" charset="0"/>
                                            <a:ea typeface="Cambria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sSupPr>
                                      <m:e>
                                        <m:sSubSup>
                                          <m:sSubSupPr>
                                            <m:ctrlPr>
                                              <a:rPr lang="fr-FR" sz="1800" b="0" i="1" smtClean="0">
                                                <a:latin typeface="Cambria Math" panose="02040503050406030204" pitchFamily="18" charset="0"/>
                                                <a:ea typeface="Cambria" panose="02040503050406030204" pitchFamily="18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fr-FR" sz="1800" b="0" i="1" smtClean="0">
                                                <a:latin typeface="Cambria Math" panose="02040503050406030204" pitchFamily="18" charset="0"/>
                                                <a:ea typeface="Cambria" panose="020405030504060302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𝑘𝑒𝑓𝑓</m:t>
                                            </m:r>
                                          </m:e>
                                          <m:sub>
                                            <m:r>
                                              <a:rPr lang="fr-FR" sz="1800" b="0" i="1" smtClean="0">
                                                <a:latin typeface="Cambria Math" panose="02040503050406030204" pitchFamily="18" charset="0"/>
                                                <a:ea typeface="Cambria" panose="020405030504060302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𝑐𝑎𝑙𝑐</m:t>
                                            </m:r>
                                          </m:sub>
                                          <m:sup>
                                            <m:r>
                                              <a:rPr lang="fr-FR" sz="1800" b="0" i="1" smtClean="0">
                                                <a:latin typeface="Cambria Math" panose="02040503050406030204" pitchFamily="18" charset="0"/>
                                                <a:ea typeface="Cambria" panose="020405030504060302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𝑗</m:t>
                                            </m:r>
                                          </m:sup>
                                        </m:sSubSup>
                                      </m:e>
                                      <m:sup>
                                        <m:r>
                                          <a:rPr lang="fr-FR" sz="1800" b="0" i="1" smtClean="0">
                                            <a:latin typeface="Cambria Math" panose="02040503050406030204" pitchFamily="18" charset="0"/>
                                            <a:ea typeface="Cambria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fr-FR" sz="1800" b="0" dirty="0">
                            <a:latin typeface="Cambria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800" b="0" dirty="0">
                              <a:latin typeface="Cambria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800" b="0" dirty="0">
                              <a:latin typeface="Cambria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92534793"/>
                      </a:ext>
                    </a:extLst>
                  </a:tr>
                  <a:tr h="90372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800" b="0">
                              <a:latin typeface="Cambria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  <a:endParaRPr lang="fr-FR" sz="1800" b="0" dirty="0">
                            <a:latin typeface="Cambria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800" b="0" dirty="0">
                              <a:latin typeface="Cambria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fr-FR" sz="1800" b="0" i="1" smtClean="0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fr-FR" sz="1800" b="0" i="1" smtClean="0">
                                            <a:latin typeface="Cambria Math" panose="02040503050406030204" pitchFamily="18" charset="0"/>
                                            <a:ea typeface="Cambria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sSupPr>
                                      <m:e>
                                        <m:sSubSup>
                                          <m:sSubSupPr>
                                            <m:ctrlPr>
                                              <a:rPr lang="fr-FR" sz="1800" b="0" i="1" smtClean="0">
                                                <a:latin typeface="Cambria Math" panose="02040503050406030204" pitchFamily="18" charset="0"/>
                                                <a:ea typeface="Cambria" panose="02040503050406030204" pitchFamily="18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fr-FR" sz="18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fr-FR" sz="1800" b="0" i="1" smtClean="0">
                                                <a:latin typeface="Cambria Math" panose="02040503050406030204" pitchFamily="18" charset="0"/>
                                                <a:ea typeface="Cambria" panose="020405030504060302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𝑒𝑥𝑝</m:t>
                                            </m:r>
                                          </m:sub>
                                          <m:sup>
                                            <m:r>
                                              <a:rPr lang="fr-FR" sz="1800" b="0" i="1" smtClean="0">
                                                <a:latin typeface="Cambria Math" panose="02040503050406030204" pitchFamily="18" charset="0"/>
                                                <a:ea typeface="Cambria" panose="020405030504060302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𝑗</m:t>
                                            </m:r>
                                            <m:r>
                                              <a:rPr lang="fr-FR" sz="1800" b="0" i="1" smtClean="0">
                                                <a:latin typeface="Cambria Math" panose="02040503050406030204" pitchFamily="18" charset="0"/>
                                                <a:ea typeface="Cambria" panose="020405030504060302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+1</m:t>
                                            </m:r>
                                          </m:sup>
                                        </m:sSubSup>
                                      </m:e>
                                      <m:sup>
                                        <m:r>
                                          <a:rPr lang="fr-FR" sz="1800" b="0" i="1" smtClean="0">
                                            <a:latin typeface="Cambria Math" panose="02040503050406030204" pitchFamily="18" charset="0"/>
                                            <a:ea typeface="Cambria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sSup>
                                      <m:sSupPr>
                                        <m:ctrlPr>
                                          <a:rPr lang="fr-FR" sz="1800" b="0" i="1" smtClean="0">
                                            <a:latin typeface="Cambria Math" panose="02040503050406030204" pitchFamily="18" charset="0"/>
                                            <a:ea typeface="Cambria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sSupPr>
                                      <m:e>
                                        <m:sSubSup>
                                          <m:sSubSupPr>
                                            <m:ctrlPr>
                                              <a:rPr lang="fr-FR" sz="1800" b="0" i="1" smtClean="0">
                                                <a:latin typeface="Cambria Math" panose="02040503050406030204" pitchFamily="18" charset="0"/>
                                                <a:ea typeface="Cambria" panose="02040503050406030204" pitchFamily="18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fr-FR" sz="1800" b="0" i="1" smtClean="0">
                                                <a:latin typeface="Cambria Math" panose="02040503050406030204" pitchFamily="18" charset="0"/>
                                                <a:ea typeface="Cambria" panose="020405030504060302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𝑘𝑒𝑓𝑓</m:t>
                                            </m:r>
                                          </m:e>
                                          <m:sub>
                                            <m:r>
                                              <a:rPr lang="fr-FR" sz="1800" b="0" i="1" smtClean="0">
                                                <a:latin typeface="Cambria Math" panose="02040503050406030204" pitchFamily="18" charset="0"/>
                                                <a:ea typeface="Cambria" panose="020405030504060302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𝑐𝑎𝑙𝑐</m:t>
                                            </m:r>
                                          </m:sub>
                                          <m:sup>
                                            <m:r>
                                              <a:rPr lang="fr-FR" sz="1800" b="0" i="1" smtClean="0">
                                                <a:latin typeface="Cambria Math" panose="02040503050406030204" pitchFamily="18" charset="0"/>
                                                <a:ea typeface="Cambria" panose="020405030504060302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𝑗</m:t>
                                            </m:r>
                                            <m:r>
                                              <a:rPr lang="fr-FR" sz="1800" b="0" i="1" smtClean="0">
                                                <a:latin typeface="Cambria Math" panose="02040503050406030204" pitchFamily="18" charset="0"/>
                                                <a:ea typeface="Cambria" panose="020405030504060302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+1</m:t>
                                            </m:r>
                                          </m:sup>
                                        </m:sSubSup>
                                      </m:e>
                                      <m:sup>
                                        <m:r>
                                          <a:rPr lang="fr-FR" sz="1800" b="0" i="1" smtClean="0">
                                            <a:latin typeface="Cambria Math" panose="02040503050406030204" pitchFamily="18" charset="0"/>
                                            <a:ea typeface="Cambria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fr-FR" sz="1800" dirty="0">
                            <a:latin typeface="Cambria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800" b="0" dirty="0">
                              <a:latin typeface="Cambria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13138953"/>
                      </a:ext>
                    </a:extLst>
                  </a:tr>
                  <a:tr h="90372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800" b="0" dirty="0">
                              <a:latin typeface="Cambria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800" b="0" dirty="0">
                              <a:latin typeface="Cambria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800" b="0" dirty="0">
                              <a:latin typeface="Cambria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 dirty="0">
                              <a:latin typeface="Cambria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7046933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C78D2325-D930-9BFE-044A-FF619E347EF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146074914"/>
                  </p:ext>
                </p:extLst>
              </p:nvPr>
            </p:nvGraphicFramePr>
            <p:xfrm>
              <a:off x="3635447" y="816267"/>
              <a:ext cx="4464284" cy="3685784"/>
            </p:xfrm>
            <a:graphic>
              <a:graphicData uri="http://schemas.openxmlformats.org/drawingml/2006/table">
                <a:tbl>
                  <a:tblPr firstRow="1" bandRow="1">
                    <a:effectLst/>
                    <a:tableStyleId>{D7AC3CCA-C797-4891-BE02-D94E43425B78}</a:tableStyleId>
                  </a:tblPr>
                  <a:tblGrid>
                    <a:gridCol w="1116071">
                      <a:extLst>
                        <a:ext uri="{9D8B030D-6E8A-4147-A177-3AD203B41FA5}">
                          <a16:colId xmlns:a16="http://schemas.microsoft.com/office/drawing/2014/main" val="710713661"/>
                        </a:ext>
                      </a:extLst>
                    </a:gridCol>
                    <a:gridCol w="1116071">
                      <a:extLst>
                        <a:ext uri="{9D8B030D-6E8A-4147-A177-3AD203B41FA5}">
                          <a16:colId xmlns:a16="http://schemas.microsoft.com/office/drawing/2014/main" val="2331507066"/>
                        </a:ext>
                      </a:extLst>
                    </a:gridCol>
                    <a:gridCol w="1116071">
                      <a:extLst>
                        <a:ext uri="{9D8B030D-6E8A-4147-A177-3AD203B41FA5}">
                          <a16:colId xmlns:a16="http://schemas.microsoft.com/office/drawing/2014/main" val="1042432262"/>
                        </a:ext>
                      </a:extLst>
                    </a:gridCol>
                    <a:gridCol w="1116071">
                      <a:extLst>
                        <a:ext uri="{9D8B030D-6E8A-4147-A177-3AD203B41FA5}">
                          <a16:colId xmlns:a16="http://schemas.microsoft.com/office/drawing/2014/main" val="2874601091"/>
                        </a:ext>
                      </a:extLst>
                    </a:gridCol>
                  </a:tblGrid>
                  <a:tr h="90372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 dirty="0">
                              <a:latin typeface="Cambria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800" b="0" dirty="0">
                              <a:latin typeface="Cambria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800" b="0" dirty="0">
                              <a:latin typeface="Cambria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800" b="0" dirty="0">
                              <a:latin typeface="Cambria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88544930"/>
                      </a:ext>
                    </a:extLst>
                  </a:tr>
                  <a:tr h="939165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800" b="0">
                              <a:latin typeface="Cambria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  <a:endParaRPr lang="fr-FR" sz="1800" b="0" dirty="0">
                            <a:latin typeface="Cambria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99457" t="-96753" r="-199457" b="-19740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800" b="0" dirty="0">
                              <a:latin typeface="Cambria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800" b="0" dirty="0">
                              <a:latin typeface="Cambria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92534793"/>
                      </a:ext>
                    </a:extLst>
                  </a:tr>
                  <a:tr h="939165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800" b="0">
                              <a:latin typeface="Cambria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  <a:endParaRPr lang="fr-FR" sz="1800" b="0" dirty="0">
                            <a:latin typeface="Cambria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800" b="0" dirty="0">
                              <a:latin typeface="Cambria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546" t="-196753" r="-100546" b="-9740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800" b="0" dirty="0">
                              <a:latin typeface="Cambria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13138953"/>
                      </a:ext>
                    </a:extLst>
                  </a:tr>
                  <a:tr h="90372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800" b="0" dirty="0">
                              <a:latin typeface="Cambria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800" b="0" dirty="0">
                              <a:latin typeface="Cambria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800" b="0" dirty="0">
                              <a:latin typeface="Cambria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 dirty="0">
                              <a:latin typeface="Cambria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70469336"/>
                      </a:ext>
                    </a:extLst>
                  </a:tr>
                </a:tbl>
              </a:graphicData>
            </a:graphic>
          </p:graphicFrame>
        </mc:Fallback>
      </mc:AlternateContent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CD56E36-EB40-FB21-505A-109AAA7580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2103668"/>
              </p:ext>
            </p:extLst>
          </p:nvPr>
        </p:nvGraphicFramePr>
        <p:xfrm>
          <a:off x="4171719" y="2491160"/>
          <a:ext cx="895581" cy="365760"/>
        </p:xfrm>
        <a:graphic>
          <a:graphicData uri="http://schemas.openxmlformats.org/drawingml/2006/table">
            <a:tbl>
              <a:tblPr/>
              <a:tblGrid>
                <a:gridCol w="895581">
                  <a:extLst>
                    <a:ext uri="{9D8B030D-6E8A-4147-A177-3AD203B41FA5}">
                      <a16:colId xmlns:a16="http://schemas.microsoft.com/office/drawing/2014/main" val="301292141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92267943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E806EEF5-CD62-B702-7DF6-0F2E3C08F148}"/>
              </a:ext>
            </a:extLst>
          </p:cNvPr>
          <p:cNvSpPr txBox="1"/>
          <p:nvPr/>
        </p:nvSpPr>
        <p:spPr>
          <a:xfrm>
            <a:off x="8567762" y="1994623"/>
            <a:ext cx="3455914" cy="106247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514350" indent="-285750">
              <a:lnSpc>
                <a:spcPct val="107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fr-FR" i="1" kern="100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Diagonal matrix</a:t>
            </a:r>
          </a:p>
          <a:p>
            <a:pPr marL="514350" indent="-285750">
              <a:lnSpc>
                <a:spcPct val="107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fr-FR" i="1" kern="100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j : index </a:t>
            </a:r>
            <a:r>
              <a:rPr lang="fr-FR" i="1" kern="100" dirty="0" err="1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going</a:t>
            </a:r>
            <a:r>
              <a:rPr lang="fr-FR" i="1" kern="100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over all benchmark cases </a:t>
            </a:r>
            <a:r>
              <a:rPr lang="fr-FR" i="1" kern="100" dirty="0" err="1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from</a:t>
            </a:r>
            <a:r>
              <a:rPr lang="fr-FR" i="1" kern="100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0 to J.</a:t>
            </a:r>
            <a:endParaRPr lang="fr-FR" sz="2000" i="1" kern="100" dirty="0">
              <a:effectLst/>
              <a:latin typeface="Cambria" panose="02040503050406030204" pitchFamily="18" charset="0"/>
              <a:ea typeface="Cambria" panose="020405030504060302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6">
                <a:extLst>
                  <a:ext uri="{FF2B5EF4-FFF2-40B4-BE49-F238E27FC236}">
                    <a16:creationId xmlns:a16="http://schemas.microsoft.com/office/drawing/2014/main" id="{FECDB8A3-6397-07E5-D7E7-F46B12588DAD}"/>
                  </a:ext>
                </a:extLst>
              </p:cNvPr>
              <p:cNvSpPr txBox="1"/>
              <p:nvPr/>
            </p:nvSpPr>
            <p:spPr>
              <a:xfrm>
                <a:off x="444689" y="4741354"/>
                <a:ext cx="11302621" cy="1569721"/>
              </a:xfrm>
              <a:prstGeom prst="round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  <a:ln w="19050">
                <a:solidFill>
                  <a:schemeClr val="accent2">
                    <a:lumMod val="75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marL="228600"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en-US" sz="14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The theory described in the SCALE 6.3.1 user manual (Section 6.8.4.2) indicates the presence of a diagonal (“E/C”) matrix on both sides of the experimental uncertainty matrix, thereby transforming its terms into experimental uncertainties relative to the calculated keff</a:t>
                </a:r>
                <a:r>
                  <a:rPr lang="fr-FR" sz="1400" i="1" kern="100" dirty="0">
                    <a:solidFill>
                      <a:schemeClr val="tx1"/>
                    </a:solidFill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:</a:t>
                </a:r>
              </a:p>
              <a:p>
                <a:pPr marL="228600"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fr-FR" sz="1400" i="1" kern="100" dirty="0">
                    <a:solidFill>
                      <a:schemeClr val="tx1"/>
                    </a:solidFill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sSubSup>
                              <m:sSubSupPr>
                                <m:ctrlPr>
                                  <a:rPr lang="fr-FR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fr-FR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lang="fr-FR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𝑒𝑥𝑝</m:t>
                                </m:r>
                              </m:sub>
                              <m:sup>
                                <m:r>
                                  <a:rPr lang="fr-FR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𝑗</m:t>
                                </m:r>
                              </m:sup>
                            </m:sSubSup>
                          </m:e>
                          <m:sup>
                            <m:r>
                              <a:rPr lang="fr-F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" panose="02040503050406030204" pitchFamily="18" charset="0"/>
                                <a:cs typeface="Times New Roman" panose="020206030504050203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sSup>
                          <m:sSupPr>
                            <m:ctrlPr>
                              <a:rPr lang="fr-F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sSubSup>
                              <m:sSubSupPr>
                                <m:ctrlPr>
                                  <a:rPr lang="fr-FR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fr-FR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𝑘𝑒𝑓𝑓</m:t>
                                </m:r>
                              </m:e>
                              <m:sub>
                                <m:r>
                                  <a:rPr lang="fr-FR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𝑒𝑥𝑝</m:t>
                                </m:r>
                              </m:sub>
                              <m:sup>
                                <m:r>
                                  <a:rPr lang="fr-FR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𝑗</m:t>
                                </m:r>
                              </m:sup>
                            </m:sSubSup>
                          </m:e>
                          <m:sup>
                            <m:r>
                              <a:rPr lang="fr-F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" panose="02040503050406030204" pitchFamily="18" charset="0"/>
                                <a:cs typeface="Times New Roman" panose="020206030504050203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r>
                  <a:rPr lang="fr-FR" i="1" kern="100" dirty="0">
                    <a:solidFill>
                      <a:schemeClr val="tx1"/>
                    </a:solidFill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fr-FR" i="1" kern="100" dirty="0">
                    <a:solidFill>
                      <a:schemeClr val="tx1"/>
                    </a:solidFill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</a:t>
                </a:r>
                <a:r>
                  <a:rPr lang="fr-FR" i="1" kern="100" dirty="0">
                    <a:solidFill>
                      <a:schemeClr val="tx1"/>
                    </a:solidFill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sSubSup>
                              <m:sSubSupPr>
                                <m:ctrlPr>
                                  <a:rPr lang="fr-FR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fr-FR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lang="fr-FR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𝑒𝑥𝑝</m:t>
                                </m:r>
                              </m:sub>
                              <m:sup>
                                <m:r>
                                  <a:rPr lang="fr-FR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𝑗</m:t>
                                </m:r>
                              </m:sup>
                            </m:sSubSup>
                          </m:e>
                          <m:sup>
                            <m:r>
                              <a:rPr lang="fr-F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" panose="02040503050406030204" pitchFamily="18" charset="0"/>
                                <a:cs typeface="Times New Roman" panose="020206030504050203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sSup>
                          <m:sSupPr>
                            <m:ctrlPr>
                              <a:rPr lang="fr-F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sSubSup>
                              <m:sSubSupPr>
                                <m:ctrlPr>
                                  <a:rPr lang="fr-FR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fr-FR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𝑘𝑒𝑓𝑓</m:t>
                                </m:r>
                              </m:e>
                              <m:sub>
                                <m:r>
                                  <a:rPr lang="fr-FR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𝑐𝑎𝑙𝑐</m:t>
                                </m:r>
                              </m:sub>
                              <m:sup>
                                <m:r>
                                  <a:rPr lang="fr-FR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𝑗</m:t>
                                </m:r>
                              </m:sup>
                            </m:sSubSup>
                          </m:e>
                          <m:sup>
                            <m:r>
                              <a:rPr lang="fr-F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" panose="02040503050406030204" pitchFamily="18" charset="0"/>
                                <a:cs typeface="Times New Roman" panose="020206030504050203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fr-FR" sz="1600" i="1" kern="100" dirty="0">
                  <a:solidFill>
                    <a:schemeClr val="tx1"/>
                  </a:solidFill>
                  <a:effectLst/>
                  <a:latin typeface="Cambria" panose="02040503050406030204" pitchFamily="18" charset="0"/>
                  <a:ea typeface="Cambria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9" name="TextBox 6">
                <a:extLst>
                  <a:ext uri="{FF2B5EF4-FFF2-40B4-BE49-F238E27FC236}">
                    <a16:creationId xmlns:a16="http://schemas.microsoft.com/office/drawing/2014/main" id="{FECDB8A3-6397-07E5-D7E7-F46B12588D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4689" y="4741354"/>
                <a:ext cx="11302621" cy="1569721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chemeClr val="accent2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Graphique 4" descr="Avertissement avec un remplissage uni">
            <a:extLst>
              <a:ext uri="{FF2B5EF4-FFF2-40B4-BE49-F238E27FC236}">
                <a16:creationId xmlns:a16="http://schemas.microsoft.com/office/drawing/2014/main" id="{C0049758-991A-3252-7624-BE7DBEBD4E8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15710" y="4393439"/>
            <a:ext cx="647700" cy="6477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20">
                <a:extLst>
                  <a:ext uri="{FF2B5EF4-FFF2-40B4-BE49-F238E27FC236}">
                    <a16:creationId xmlns:a16="http://schemas.microsoft.com/office/drawing/2014/main" id="{53BB2D26-D2FD-6A9E-42C9-A16B5AB9FB32}"/>
                  </a:ext>
                </a:extLst>
              </p:cNvPr>
              <p:cNvSpPr txBox="1"/>
              <p:nvPr/>
            </p:nvSpPr>
            <p:spPr>
              <a:xfrm>
                <a:off x="7959817" y="4393439"/>
                <a:ext cx="3207372" cy="306238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marL="228600"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 xmlns:m="http://schemas.openxmlformats.org/officeDocument/2006/math">
                    <m:r>
                      <a:rPr lang="fr-FR" sz="1400" i="1" kern="10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𝐷</m:t>
                    </m:r>
                    <m:r>
                      <a:rPr lang="fr-FR" sz="1400" b="0" i="1" kern="10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𝐼𝑀</m:t>
                    </m:r>
                    <m:r>
                      <a:rPr lang="fr-FR" sz="1400" b="0" i="1" kern="10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 :</m:t>
                    </m:r>
                    <m:r>
                      <a:rPr lang="fr-FR" sz="1400" b="0" i="0" kern="10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2</m:t>
                    </m:r>
                  </m:oMath>
                </a14:m>
                <a:r>
                  <a:rPr lang="fr-FR" sz="14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D </a:t>
                </a:r>
                <a:r>
                  <a:rPr lang="fr-FR" sz="14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 J </a:t>
                </a:r>
                <a:r>
                  <a:rPr lang="fr-FR" sz="1400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| J</a:t>
                </a:r>
                <a:endParaRPr lang="fr-FR" sz="1400" kern="100" dirty="0">
                  <a:effectLst/>
                  <a:latin typeface="Cambria" panose="02040503050406030204" pitchFamily="18" charset="0"/>
                  <a:ea typeface="Cambria" panose="02040503050406030204" pitchFamily="18" charset="0"/>
                  <a:cs typeface="Times New Roman" panose="02020603050405020304" pitchFamily="18" charset="0"/>
                  <a:sym typeface="Wingdings" panose="05000000000000000000" pitchFamily="2" charset="2"/>
                </a:endParaRPr>
              </a:p>
            </p:txBody>
          </p:sp>
        </mc:Choice>
        <mc:Fallback xmlns="">
          <p:sp>
            <p:nvSpPr>
              <p:cNvPr id="2" name="TextBox 20">
                <a:extLst>
                  <a:ext uri="{FF2B5EF4-FFF2-40B4-BE49-F238E27FC236}">
                    <a16:creationId xmlns:a16="http://schemas.microsoft.com/office/drawing/2014/main" id="{53BB2D26-D2FD-6A9E-42C9-A16B5AB9FB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59817" y="4393439"/>
                <a:ext cx="3207372" cy="306238"/>
              </a:xfrm>
              <a:prstGeom prst="rect">
                <a:avLst/>
              </a:prstGeom>
              <a:blipFill>
                <a:blip r:embed="rId6"/>
                <a:stretch>
                  <a:fillRect t="-6000" b="-20000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5E9FFB55-327E-E8FF-C4FD-9623F2B96923}"/>
              </a:ext>
            </a:extLst>
          </p:cNvPr>
          <p:cNvSpPr txBox="1"/>
          <p:nvPr/>
        </p:nvSpPr>
        <p:spPr>
          <a:xfrm>
            <a:off x="3348502" y="86002"/>
            <a:ext cx="474687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C</a:t>
            </a:r>
            <a:r>
              <a:rPr lang="fr-FR" sz="2800" b="1" baseline="-25000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bench</a:t>
            </a:r>
            <a:r>
              <a:rPr lang="fr-FR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: </a:t>
            </a:r>
            <a:r>
              <a:rPr lang="fr-FR" dirty="0" err="1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experimental</a:t>
            </a:r>
            <a:r>
              <a:rPr lang="fr-FR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k</a:t>
            </a:r>
            <a:r>
              <a:rPr lang="fr-FR" baseline="-25000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eff</a:t>
            </a:r>
            <a:r>
              <a:rPr lang="fr-FR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</a:t>
            </a:r>
            <a:r>
              <a:rPr lang="fr-FR" dirty="0" err="1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uncertainty</a:t>
            </a:r>
            <a:r>
              <a:rPr lang="fr-FR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matrix</a:t>
            </a:r>
          </a:p>
        </p:txBody>
      </p:sp>
    </p:spTree>
    <p:extLst>
      <p:ext uri="{BB962C8B-B14F-4D97-AF65-F5344CB8AC3E}">
        <p14:creationId xmlns:p14="http://schemas.microsoft.com/office/powerpoint/2010/main" val="35355809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au 3">
                <a:extLst>
                  <a:ext uri="{FF2B5EF4-FFF2-40B4-BE49-F238E27FC236}">
                    <a16:creationId xmlns:a16="http://schemas.microsoft.com/office/drawing/2014/main" id="{8DE10622-9BE2-94D3-77D0-4A7DDF0609C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46694371"/>
                  </p:ext>
                </p:extLst>
              </p:nvPr>
            </p:nvGraphicFramePr>
            <p:xfrm>
              <a:off x="2009113" y="883883"/>
              <a:ext cx="7048057" cy="517526"/>
            </p:xfrm>
            <a:graphic>
              <a:graphicData uri="http://schemas.openxmlformats.org/drawingml/2006/table">
                <a:tbl>
                  <a:tblPr>
                    <a:effectLst>
                      <a:innerShdw blurRad="482600" dist="1257300">
                        <a:schemeClr val="bg1"/>
                      </a:innerShdw>
                    </a:effectLst>
                  </a:tblPr>
                  <a:tblGrid>
                    <a:gridCol w="648000">
                      <a:extLst>
                        <a:ext uri="{9D8B030D-6E8A-4147-A177-3AD203B41FA5}">
                          <a16:colId xmlns:a16="http://schemas.microsoft.com/office/drawing/2014/main" val="2402601773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1000514895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55719196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2366797465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437909728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593491381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624482732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149971278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855188310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264270260"/>
                        </a:ext>
                      </a:extLst>
                    </a:gridCol>
                    <a:gridCol w="568057">
                      <a:extLst>
                        <a:ext uri="{9D8B030D-6E8A-4147-A177-3AD203B41FA5}">
                          <a16:colId xmlns:a16="http://schemas.microsoft.com/office/drawing/2014/main" val="1789773732"/>
                        </a:ext>
                      </a:extLst>
                    </a:gridCol>
                  </a:tblGrid>
                  <a:tr h="51752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+2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+2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mpd="sng">
                          <a:noFill/>
                          <a:prstDash val="soli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2033857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au 3">
                <a:extLst>
                  <a:ext uri="{FF2B5EF4-FFF2-40B4-BE49-F238E27FC236}">
                    <a16:creationId xmlns:a16="http://schemas.microsoft.com/office/drawing/2014/main" id="{8DE10622-9BE2-94D3-77D0-4A7DDF0609C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46694371"/>
                  </p:ext>
                </p:extLst>
              </p:nvPr>
            </p:nvGraphicFramePr>
            <p:xfrm>
              <a:off x="2009113" y="883883"/>
              <a:ext cx="7048057" cy="517526"/>
            </p:xfrm>
            <a:graphic>
              <a:graphicData uri="http://schemas.openxmlformats.org/drawingml/2006/table">
                <a:tbl>
                  <a:tblPr>
                    <a:effectLst>
                      <a:innerShdw blurRad="482600" dist="1257300">
                        <a:schemeClr val="bg1"/>
                      </a:innerShdw>
                    </a:effectLst>
                  </a:tblPr>
                  <a:tblGrid>
                    <a:gridCol w="648000">
                      <a:extLst>
                        <a:ext uri="{9D8B030D-6E8A-4147-A177-3AD203B41FA5}">
                          <a16:colId xmlns:a16="http://schemas.microsoft.com/office/drawing/2014/main" val="2402601773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1000514895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55719196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2366797465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437909728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593491381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624482732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149971278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855188310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264270260"/>
                        </a:ext>
                      </a:extLst>
                    </a:gridCol>
                    <a:gridCol w="568057">
                      <a:extLst>
                        <a:ext uri="{9D8B030D-6E8A-4147-A177-3AD203B41FA5}">
                          <a16:colId xmlns:a16="http://schemas.microsoft.com/office/drawing/2014/main" val="1789773732"/>
                        </a:ext>
                      </a:extLst>
                    </a:gridCol>
                  </a:tblGrid>
                  <a:tr h="51752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2"/>
                          <a:stretch>
                            <a:fillRect l="-100000" t="-1163" r="-884112" b="-46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2"/>
                          <a:stretch>
                            <a:fillRect l="-201887" t="-1163" r="-792453" b="-46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2"/>
                          <a:stretch>
                            <a:fillRect l="-301887" t="-1163" r="-692453" b="-46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2"/>
                          <a:stretch>
                            <a:fillRect l="-597196" t="-1163" r="-386916" b="-46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2"/>
                          <a:stretch>
                            <a:fillRect l="-703774" t="-1163" r="-290566" b="-46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2"/>
                          <a:stretch>
                            <a:fillRect l="-803774" t="-1163" r="-190566" b="-46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mpd="sng">
                          <a:noFill/>
                          <a:prstDash val="soli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2033857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9896108C-CF1D-F0C6-3900-DE7A999FB0E0}"/>
              </a:ext>
            </a:extLst>
          </p:cNvPr>
          <p:cNvSpPr txBox="1"/>
          <p:nvPr/>
        </p:nvSpPr>
        <p:spPr>
          <a:xfrm>
            <a:off x="3561057" y="57928"/>
            <a:ext cx="509934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b="1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S</a:t>
            </a:r>
            <a:r>
              <a:rPr lang="fr-FR" sz="3600" b="1" baseline="-25000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bench</a:t>
            </a:r>
            <a:r>
              <a:rPr lang="fr-FR" sz="3600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</a:t>
            </a:r>
            <a:r>
              <a:rPr lang="fr-FR" sz="2000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: </a:t>
            </a:r>
            <a:r>
              <a:rPr lang="fr-FR" sz="2000" dirty="0" err="1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experimental</a:t>
            </a:r>
            <a:r>
              <a:rPr lang="fr-FR" sz="2000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</a:t>
            </a:r>
            <a:r>
              <a:rPr lang="fr-FR" sz="2000" dirty="0" err="1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sensitivities</a:t>
            </a:r>
            <a:r>
              <a:rPr lang="fr-FR" sz="2000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matrix</a:t>
            </a:r>
            <a:endParaRPr lang="fr-FR" dirty="0">
              <a:latin typeface="Cambria" panose="02040503050406030204" pitchFamily="18" charset="0"/>
              <a:ea typeface="Cambria" panose="020405030504060302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CD161CA-9ACB-E692-10A6-B8007B24E784}"/>
                  </a:ext>
                </a:extLst>
              </p:cNvPr>
              <p:cNvSpPr txBox="1"/>
              <p:nvPr/>
            </p:nvSpPr>
            <p:spPr>
              <a:xfrm>
                <a:off x="1866936" y="5502717"/>
                <a:ext cx="9920554" cy="1029641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marL="228600"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fr-FR" sz="1600" i="1" kern="10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SupPr>
                      <m:e>
                        <m:r>
                          <a:rPr lang="fr-FR" sz="1600" i="1" kern="10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𝑆</m:t>
                        </m:r>
                      </m:e>
                      <m:sub>
                        <m:r>
                          <a:rPr lang="fr-FR" sz="1600" i="1" kern="10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𝑔</m:t>
                        </m:r>
                      </m:sub>
                      <m:sup>
                        <m:r>
                          <a:rPr lang="fr-FR" sz="1600" i="1" kern="10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  <m:r>
                          <a:rPr lang="fr-FR" sz="1600" i="1" kern="10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, </m:t>
                        </m:r>
                        <m:r>
                          <a:rPr lang="fr-FR" sz="1600" i="1" kern="10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𝑟</m:t>
                        </m:r>
                      </m:sup>
                    </m:sSubSup>
                    <m:r>
                      <a:rPr lang="fr-FR" sz="1600" i="1" kern="10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 </m:t>
                    </m:r>
                    <m:f>
                      <m:fPr>
                        <m:ctrlPr>
                          <a:rPr lang="fr-FR" sz="1600" i="1" kern="10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fr-FR" sz="1600" i="1" kern="10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∆</m:t>
                        </m:r>
                        <m:sSub>
                          <m:sSubPr>
                            <m:ctrlPr>
                              <a:rPr lang="fr-FR" sz="1600" i="1" kern="100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fr-FR" sz="1600" i="1" kern="100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fr-FR" sz="1600" i="1" kern="100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𝑒𝑓𝑓</m:t>
                            </m:r>
                          </m:sub>
                        </m:sSub>
                      </m:num>
                      <m:den>
                        <m:r>
                          <a:rPr lang="fr-FR" sz="1600" i="1" kern="10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∆</m:t>
                        </m:r>
                        <m:sSub>
                          <m:sSubPr>
                            <m:ctrlPr>
                              <a:rPr lang="fr-FR" sz="1600" i="1" kern="100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fr-FR" sz="1600" i="1" kern="100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𝑋𝑆</m:t>
                            </m:r>
                          </m:e>
                          <m:sub>
                            <m:r>
                              <a:rPr lang="fr-FR" sz="1600" i="1" kern="100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 </m:t>
                            </m:r>
                          </m:sub>
                        </m:sSub>
                      </m:den>
                    </m:f>
                  </m:oMath>
                </a14:m>
                <a:r>
                  <a:rPr lang="fr-FR" sz="1600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  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: variation of k</a:t>
                </a:r>
                <a:r>
                  <a:rPr lang="fr-FR" sz="1600" i="1" kern="100" baseline="-250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eff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(∆k</a:t>
                </a:r>
                <a:r>
                  <a:rPr lang="fr-FR" sz="1600" i="1" kern="100" baseline="-250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eff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) </a:t>
                </a:r>
                <a:r>
                  <a:rPr lang="fr-FR" sz="1600" b="1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in %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, </a:t>
                </a:r>
                <a:r>
                  <a:rPr lang="fr-FR" sz="1600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induced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by the variation of the ND (∆ND) </a:t>
                </a:r>
                <a:r>
                  <a:rPr lang="fr-FR" sz="1600" b="1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in %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fr-FR" sz="1600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too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, of </a:t>
                </a:r>
                <a:r>
                  <a:rPr lang="fr-FR" sz="1600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reaction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r for isotope i, in </a:t>
                </a:r>
                <a:r>
                  <a:rPr lang="fr-FR" sz="1600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energy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group g. </a:t>
                </a:r>
                <a:r>
                  <a:rPr lang="fr-FR" sz="1600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With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i </a:t>
                </a:r>
                <a:r>
                  <a:rPr lang="fr-FR" sz="1600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going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fr-FR" sz="1600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from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isotope 0 to I, r </a:t>
                </a:r>
                <a:r>
                  <a:rPr lang="fr-FR" sz="1600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going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fr-FR" sz="1600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from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fr-FR" sz="1600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reaction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0 to R, and g </a:t>
                </a:r>
                <a:r>
                  <a:rPr lang="fr-FR" sz="1600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going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fr-FR" sz="1600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from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fr-FR" sz="1600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energy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group 0 to G ; for </a:t>
                </a:r>
                <a:r>
                  <a:rPr lang="fr-FR" sz="1600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each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benchmark index j </a:t>
                </a:r>
                <a:r>
                  <a:rPr lang="fr-FR" sz="1600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going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fr-FR" sz="1600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from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0 to J.</a:t>
                </a:r>
                <a:endParaRPr lang="fr-FR" sz="1600" kern="100" dirty="0">
                  <a:latin typeface="Cambria" panose="02040503050406030204" pitchFamily="18" charset="0"/>
                  <a:ea typeface="Cambria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CD161CA-9ACB-E692-10A6-B8007B24E7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6936" y="5502717"/>
                <a:ext cx="9920554" cy="1029641"/>
              </a:xfrm>
              <a:prstGeom prst="rect">
                <a:avLst/>
              </a:prstGeom>
              <a:blipFill>
                <a:blip r:embed="rId3"/>
                <a:stretch>
                  <a:fillRect b="-5848"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7">
            <a:extLst>
              <a:ext uri="{FF2B5EF4-FFF2-40B4-BE49-F238E27FC236}">
                <a16:creationId xmlns:a16="http://schemas.microsoft.com/office/drawing/2014/main" id="{83045EB6-BB8A-FE87-2A49-1F807B71F68D}"/>
              </a:ext>
            </a:extLst>
          </p:cNvPr>
          <p:cNvSpPr txBox="1"/>
          <p:nvPr/>
        </p:nvSpPr>
        <p:spPr>
          <a:xfrm rot="16200000">
            <a:off x="-717040" y="2437346"/>
            <a:ext cx="48821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accent1">
                    <a:lumMod val="60000"/>
                    <a:lumOff val="40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J		  3         2          1         0</a:t>
            </a:r>
          </a:p>
        </p:txBody>
      </p:sp>
      <p:sp>
        <p:nvSpPr>
          <p:cNvPr id="27" name="Flèche : bas 26">
            <a:extLst>
              <a:ext uri="{FF2B5EF4-FFF2-40B4-BE49-F238E27FC236}">
                <a16:creationId xmlns:a16="http://schemas.microsoft.com/office/drawing/2014/main" id="{1BD77ABB-C8F3-EE12-31D3-0C2C11999991}"/>
              </a:ext>
            </a:extLst>
          </p:cNvPr>
          <p:cNvSpPr/>
          <p:nvPr/>
        </p:nvSpPr>
        <p:spPr>
          <a:xfrm>
            <a:off x="1618740" y="3248755"/>
            <a:ext cx="261844" cy="1446451"/>
          </a:xfrm>
          <a:prstGeom prst="downArrow">
            <a:avLst>
              <a:gd name="adj1" fmla="val 50000"/>
              <a:gd name="adj2" fmla="val 117560"/>
            </a:avLst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8" name="TextBox 7">
            <a:extLst>
              <a:ext uri="{FF2B5EF4-FFF2-40B4-BE49-F238E27FC236}">
                <a16:creationId xmlns:a16="http://schemas.microsoft.com/office/drawing/2014/main" id="{4FC06739-CAE7-1EA3-1452-45322430A1BB}"/>
              </a:ext>
            </a:extLst>
          </p:cNvPr>
          <p:cNvSpPr txBox="1"/>
          <p:nvPr/>
        </p:nvSpPr>
        <p:spPr>
          <a:xfrm rot="16200000">
            <a:off x="-1636710" y="3520229"/>
            <a:ext cx="597049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u="sng" spc="300" dirty="0">
                <a:solidFill>
                  <a:schemeClr val="accent1">
                    <a:lumMod val="60000"/>
                    <a:lumOff val="40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Benchmark cases </a:t>
            </a:r>
            <a:r>
              <a:rPr lang="fr-FR" sz="1600" u="sng" spc="300" dirty="0" err="1">
                <a:solidFill>
                  <a:schemeClr val="accent1">
                    <a:lumMod val="60000"/>
                    <a:lumOff val="40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list</a:t>
            </a:r>
            <a:r>
              <a:rPr lang="fr-FR" sz="1600" u="sng" spc="300" dirty="0">
                <a:solidFill>
                  <a:schemeClr val="accent1">
                    <a:lumMod val="60000"/>
                    <a:lumOff val="40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/</a:t>
            </a:r>
            <a:r>
              <a:rPr lang="fr-FR" sz="1600" u="sng" spc="300" dirty="0" err="1">
                <a:solidFill>
                  <a:schemeClr val="accent1">
                    <a:lumMod val="60000"/>
                    <a:lumOff val="40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sensitivity</a:t>
            </a:r>
            <a:r>
              <a:rPr lang="fr-FR" sz="1600" u="sng" spc="300" dirty="0">
                <a:solidFill>
                  <a:schemeClr val="accent1">
                    <a:lumMod val="60000"/>
                    <a:lumOff val="40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</a:t>
            </a:r>
            <a:r>
              <a:rPr lang="fr-FR" sz="1600" u="sng" spc="300" dirty="0" err="1">
                <a:solidFill>
                  <a:schemeClr val="accent1">
                    <a:lumMod val="60000"/>
                    <a:lumOff val="40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vectors</a:t>
            </a:r>
            <a:r>
              <a:rPr lang="fr-FR" sz="1600" u="sng" spc="300" dirty="0">
                <a:solidFill>
                  <a:schemeClr val="accent1">
                    <a:lumMod val="60000"/>
                    <a:lumOff val="40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0">
                <a:extLst>
                  <a:ext uri="{FF2B5EF4-FFF2-40B4-BE49-F238E27FC236}">
                    <a16:creationId xmlns:a16="http://schemas.microsoft.com/office/drawing/2014/main" id="{933ED591-6396-8CD5-7CE9-D9BB0A0A2C4C}"/>
                  </a:ext>
                </a:extLst>
              </p:cNvPr>
              <p:cNvSpPr txBox="1"/>
              <p:nvPr/>
            </p:nvSpPr>
            <p:spPr>
              <a:xfrm>
                <a:off x="8722289" y="5155535"/>
                <a:ext cx="3207372" cy="306238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marL="228600"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 xmlns:m="http://schemas.openxmlformats.org/officeDocument/2006/math">
                    <m:r>
                      <a:rPr lang="fr-FR" sz="1400" i="1" kern="10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𝐷</m:t>
                    </m:r>
                    <m:r>
                      <a:rPr lang="fr-FR" sz="1400" b="0" i="1" kern="10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𝐼𝑀</m:t>
                    </m:r>
                    <m:r>
                      <a:rPr lang="fr-FR" sz="1400" b="0" i="1" kern="10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 :</m:t>
                    </m:r>
                    <m:r>
                      <a:rPr lang="fr-FR" sz="1400" b="0" i="0" kern="10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2</m:t>
                    </m:r>
                  </m:oMath>
                </a14:m>
                <a:r>
                  <a:rPr lang="fr-FR" sz="14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D </a:t>
                </a:r>
                <a:r>
                  <a:rPr lang="fr-FR" sz="1400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 J | I</a:t>
                </a:r>
                <a:r>
                  <a:rPr lang="fr-FR" sz="1400" kern="100" baseline="300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r</a:t>
                </a:r>
                <a:r>
                  <a:rPr lang="fr-FR" sz="1400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 𝗑 G</a:t>
                </a:r>
                <a:endParaRPr lang="fr-FR" sz="1400" kern="100" dirty="0">
                  <a:effectLst/>
                  <a:latin typeface="Cambria" panose="02040503050406030204" pitchFamily="18" charset="0"/>
                  <a:ea typeface="Cambria" panose="02040503050406030204" pitchFamily="18" charset="0"/>
                  <a:cs typeface="Times New Roman" panose="02020603050405020304" pitchFamily="18" charset="0"/>
                  <a:sym typeface="Wingdings" panose="05000000000000000000" pitchFamily="2" charset="2"/>
                </a:endParaRPr>
              </a:p>
            </p:txBody>
          </p:sp>
        </mc:Choice>
        <mc:Fallback xmlns="">
          <p:sp>
            <p:nvSpPr>
              <p:cNvPr id="3" name="TextBox 20">
                <a:extLst>
                  <a:ext uri="{FF2B5EF4-FFF2-40B4-BE49-F238E27FC236}">
                    <a16:creationId xmlns:a16="http://schemas.microsoft.com/office/drawing/2014/main" id="{933ED591-6396-8CD5-7CE9-D9BB0A0A2C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22289" y="5155535"/>
                <a:ext cx="3207372" cy="306238"/>
              </a:xfrm>
              <a:prstGeom prst="rect">
                <a:avLst/>
              </a:prstGeom>
              <a:blipFill>
                <a:blip r:embed="rId4"/>
                <a:stretch>
                  <a:fillRect t="-6000" b="-20000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" name="Tableau 7">
                <a:extLst>
                  <a:ext uri="{FF2B5EF4-FFF2-40B4-BE49-F238E27FC236}">
                    <a16:creationId xmlns:a16="http://schemas.microsoft.com/office/drawing/2014/main" id="{89500629-9E2E-E736-643D-EDD0587DE2A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40222662"/>
                  </p:ext>
                </p:extLst>
              </p:nvPr>
            </p:nvGraphicFramePr>
            <p:xfrm>
              <a:off x="2009111" y="2115447"/>
              <a:ext cx="7048057" cy="517526"/>
            </p:xfrm>
            <a:graphic>
              <a:graphicData uri="http://schemas.openxmlformats.org/drawingml/2006/table">
                <a:tbl>
                  <a:tblPr>
                    <a:effectLst>
                      <a:innerShdw blurRad="482600" dist="1257300">
                        <a:schemeClr val="bg1"/>
                      </a:innerShdw>
                    </a:effectLst>
                  </a:tblPr>
                  <a:tblGrid>
                    <a:gridCol w="648000">
                      <a:extLst>
                        <a:ext uri="{9D8B030D-6E8A-4147-A177-3AD203B41FA5}">
                          <a16:colId xmlns:a16="http://schemas.microsoft.com/office/drawing/2014/main" val="2402601773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1000514895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55719196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2366797465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437909728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593491381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624482732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149971278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855188310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264270260"/>
                        </a:ext>
                      </a:extLst>
                    </a:gridCol>
                    <a:gridCol w="568057">
                      <a:extLst>
                        <a:ext uri="{9D8B030D-6E8A-4147-A177-3AD203B41FA5}">
                          <a16:colId xmlns:a16="http://schemas.microsoft.com/office/drawing/2014/main" val="1789773732"/>
                        </a:ext>
                      </a:extLst>
                    </a:gridCol>
                  </a:tblGrid>
                  <a:tr h="51752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+2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+2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mpd="sng">
                          <a:noFill/>
                          <a:prstDash val="soli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2033857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8" name="Tableau 7">
                <a:extLst>
                  <a:ext uri="{FF2B5EF4-FFF2-40B4-BE49-F238E27FC236}">
                    <a16:creationId xmlns:a16="http://schemas.microsoft.com/office/drawing/2014/main" id="{89500629-9E2E-E736-643D-EDD0587DE2A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40222662"/>
                  </p:ext>
                </p:extLst>
              </p:nvPr>
            </p:nvGraphicFramePr>
            <p:xfrm>
              <a:off x="2009111" y="2115447"/>
              <a:ext cx="7048057" cy="517526"/>
            </p:xfrm>
            <a:graphic>
              <a:graphicData uri="http://schemas.openxmlformats.org/drawingml/2006/table">
                <a:tbl>
                  <a:tblPr>
                    <a:effectLst>
                      <a:innerShdw blurRad="482600" dist="1257300">
                        <a:schemeClr val="bg1"/>
                      </a:innerShdw>
                    </a:effectLst>
                  </a:tblPr>
                  <a:tblGrid>
                    <a:gridCol w="648000">
                      <a:extLst>
                        <a:ext uri="{9D8B030D-6E8A-4147-A177-3AD203B41FA5}">
                          <a16:colId xmlns:a16="http://schemas.microsoft.com/office/drawing/2014/main" val="2402601773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1000514895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55719196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2366797465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437909728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593491381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624482732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149971278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855188310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264270260"/>
                        </a:ext>
                      </a:extLst>
                    </a:gridCol>
                    <a:gridCol w="568057">
                      <a:extLst>
                        <a:ext uri="{9D8B030D-6E8A-4147-A177-3AD203B41FA5}">
                          <a16:colId xmlns:a16="http://schemas.microsoft.com/office/drawing/2014/main" val="1789773732"/>
                        </a:ext>
                      </a:extLst>
                    </a:gridCol>
                  </a:tblGrid>
                  <a:tr h="51752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5"/>
                          <a:stretch>
                            <a:fillRect l="-100000" t="-2353" r="-884112" b="-47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5"/>
                          <a:stretch>
                            <a:fillRect l="-201887" t="-2353" r="-792453" b="-47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5"/>
                          <a:stretch>
                            <a:fillRect l="-301887" t="-2353" r="-692453" b="-47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5"/>
                          <a:stretch>
                            <a:fillRect l="-597196" t="-2353" r="-386916" b="-47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5"/>
                          <a:stretch>
                            <a:fillRect l="-703774" t="-2353" r="-290566" b="-47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5"/>
                          <a:stretch>
                            <a:fillRect l="-803774" t="-2353" r="-190566" b="-47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mpd="sng">
                          <a:noFill/>
                          <a:prstDash val="soli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20338573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9" name="Tableau 8">
                <a:extLst>
                  <a:ext uri="{FF2B5EF4-FFF2-40B4-BE49-F238E27FC236}">
                    <a16:creationId xmlns:a16="http://schemas.microsoft.com/office/drawing/2014/main" id="{5261DB0A-E751-82BC-CD06-582F8375B32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47279196"/>
                  </p:ext>
                </p:extLst>
              </p:nvPr>
            </p:nvGraphicFramePr>
            <p:xfrm>
              <a:off x="2009110" y="2731229"/>
              <a:ext cx="7048057" cy="517526"/>
            </p:xfrm>
            <a:graphic>
              <a:graphicData uri="http://schemas.openxmlformats.org/drawingml/2006/table">
                <a:tbl>
                  <a:tblPr>
                    <a:effectLst>
                      <a:innerShdw blurRad="482600" dist="1257300">
                        <a:schemeClr val="bg1"/>
                      </a:innerShdw>
                    </a:effectLst>
                  </a:tblPr>
                  <a:tblGrid>
                    <a:gridCol w="648000">
                      <a:extLst>
                        <a:ext uri="{9D8B030D-6E8A-4147-A177-3AD203B41FA5}">
                          <a16:colId xmlns:a16="http://schemas.microsoft.com/office/drawing/2014/main" val="2402601773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1000514895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55719196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2366797465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437909728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593491381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624482732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149971278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855188310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264270260"/>
                        </a:ext>
                      </a:extLst>
                    </a:gridCol>
                    <a:gridCol w="568057">
                      <a:extLst>
                        <a:ext uri="{9D8B030D-6E8A-4147-A177-3AD203B41FA5}">
                          <a16:colId xmlns:a16="http://schemas.microsoft.com/office/drawing/2014/main" val="1789773732"/>
                        </a:ext>
                      </a:extLst>
                    </a:gridCol>
                  </a:tblGrid>
                  <a:tr h="51752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+2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+2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mpd="sng">
                          <a:noFill/>
                          <a:prstDash val="soli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2033857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9" name="Tableau 8">
                <a:extLst>
                  <a:ext uri="{FF2B5EF4-FFF2-40B4-BE49-F238E27FC236}">
                    <a16:creationId xmlns:a16="http://schemas.microsoft.com/office/drawing/2014/main" id="{5261DB0A-E751-82BC-CD06-582F8375B32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47279196"/>
                  </p:ext>
                </p:extLst>
              </p:nvPr>
            </p:nvGraphicFramePr>
            <p:xfrm>
              <a:off x="2009110" y="2731229"/>
              <a:ext cx="7048057" cy="517526"/>
            </p:xfrm>
            <a:graphic>
              <a:graphicData uri="http://schemas.openxmlformats.org/drawingml/2006/table">
                <a:tbl>
                  <a:tblPr>
                    <a:effectLst>
                      <a:innerShdw blurRad="482600" dist="1257300">
                        <a:schemeClr val="bg1"/>
                      </a:innerShdw>
                    </a:effectLst>
                  </a:tblPr>
                  <a:tblGrid>
                    <a:gridCol w="648000">
                      <a:extLst>
                        <a:ext uri="{9D8B030D-6E8A-4147-A177-3AD203B41FA5}">
                          <a16:colId xmlns:a16="http://schemas.microsoft.com/office/drawing/2014/main" val="2402601773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1000514895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55719196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2366797465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437909728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593491381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624482732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149971278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855188310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264270260"/>
                        </a:ext>
                      </a:extLst>
                    </a:gridCol>
                    <a:gridCol w="568057">
                      <a:extLst>
                        <a:ext uri="{9D8B030D-6E8A-4147-A177-3AD203B41FA5}">
                          <a16:colId xmlns:a16="http://schemas.microsoft.com/office/drawing/2014/main" val="1789773732"/>
                        </a:ext>
                      </a:extLst>
                    </a:gridCol>
                  </a:tblGrid>
                  <a:tr h="51752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6"/>
                          <a:stretch>
                            <a:fillRect l="-100000" t="-2353" r="-884112" b="-47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6"/>
                          <a:stretch>
                            <a:fillRect l="-201887" t="-2353" r="-792453" b="-47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6"/>
                          <a:stretch>
                            <a:fillRect l="-301887" t="-2353" r="-692453" b="-47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6"/>
                          <a:stretch>
                            <a:fillRect l="-597196" t="-2353" r="-386916" b="-47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6"/>
                          <a:stretch>
                            <a:fillRect l="-703774" t="-2353" r="-290566" b="-47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6"/>
                          <a:stretch>
                            <a:fillRect l="-803774" t="-2353" r="-190566" b="-47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mpd="sng">
                          <a:noFill/>
                          <a:prstDash val="soli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20338573"/>
                      </a:ext>
                    </a:extLst>
                  </a:tr>
                </a:tbl>
              </a:graphicData>
            </a:graphic>
          </p:graphicFrame>
        </mc:Fallback>
      </mc:AlternateContent>
      <p:graphicFrame>
        <p:nvGraphicFramePr>
          <p:cNvPr id="11" name="Tableau 10">
            <a:extLst>
              <a:ext uri="{FF2B5EF4-FFF2-40B4-BE49-F238E27FC236}">
                <a16:creationId xmlns:a16="http://schemas.microsoft.com/office/drawing/2014/main" id="{72D6898B-AA74-EACD-16C4-E6223EB322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2575570"/>
              </p:ext>
            </p:extLst>
          </p:nvPr>
        </p:nvGraphicFramePr>
        <p:xfrm>
          <a:off x="2009108" y="3962793"/>
          <a:ext cx="7048057" cy="517526"/>
        </p:xfrm>
        <a:graphic>
          <a:graphicData uri="http://schemas.openxmlformats.org/drawingml/2006/table">
            <a:tbl>
              <a:tblPr>
                <a:effectLst>
                  <a:innerShdw blurRad="419100" dist="596900" dir="2700000">
                    <a:schemeClr val="bg1"/>
                  </a:innerShdw>
                </a:effectLst>
              </a:tblPr>
              <a:tblGrid>
                <a:gridCol w="648000">
                  <a:extLst>
                    <a:ext uri="{9D8B030D-6E8A-4147-A177-3AD203B41FA5}">
                      <a16:colId xmlns:a16="http://schemas.microsoft.com/office/drawing/2014/main" val="2402601773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1000514895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355719196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366797465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3437909728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593491381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624482732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149971278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855188310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3264270260"/>
                    </a:ext>
                  </a:extLst>
                </a:gridCol>
                <a:gridCol w="568057">
                  <a:extLst>
                    <a:ext uri="{9D8B030D-6E8A-4147-A177-3AD203B41FA5}">
                      <a16:colId xmlns:a16="http://schemas.microsoft.com/office/drawing/2014/main" val="1789773732"/>
                    </a:ext>
                  </a:extLst>
                </a:gridCol>
              </a:tblGrid>
              <a:tr h="517526"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 anchor="ctr">
                    <a:lnL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T>
                    <a:lnB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 anchor="ctr">
                    <a:lnL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T>
                    <a:lnB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 anchor="ctr">
                    <a:lnL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T>
                    <a:lnB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 anchor="ctr">
                    <a:lnL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T>
                    <a:lnB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 anchor="ctr">
                    <a:lnL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T>
                    <a:lnB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 anchor="ctr">
                    <a:lnL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T>
                    <a:lnB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 anchor="ctr">
                    <a:lnL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T>
                    <a:lnB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 anchor="ctr">
                    <a:lnL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T>
                    <a:lnB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 anchor="ctr">
                    <a:lnL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T>
                    <a:lnB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 anchor="ctr">
                    <a:lnL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T>
                    <a:lnB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L>
                    <a:lnR w="19050" cmpd="sng">
                      <a:noFill/>
                      <a:prstDash val="solid"/>
                    </a:lnR>
                    <a:lnT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T>
                    <a:lnB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0338573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2" name="Tableau 11">
                <a:extLst>
                  <a:ext uri="{FF2B5EF4-FFF2-40B4-BE49-F238E27FC236}">
                    <a16:creationId xmlns:a16="http://schemas.microsoft.com/office/drawing/2014/main" id="{E0D658FD-DC74-839F-7264-9B5F2D92CC1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24682234"/>
                  </p:ext>
                </p:extLst>
              </p:nvPr>
            </p:nvGraphicFramePr>
            <p:xfrm>
              <a:off x="2009107" y="4578575"/>
              <a:ext cx="7048057" cy="517526"/>
            </p:xfrm>
            <a:graphic>
              <a:graphicData uri="http://schemas.openxmlformats.org/drawingml/2006/table">
                <a:tbl>
                  <a:tblPr>
                    <a:effectLst>
                      <a:innerShdw blurRad="482600" dist="1257300">
                        <a:schemeClr val="bg1"/>
                      </a:innerShdw>
                    </a:effectLst>
                  </a:tblPr>
                  <a:tblGrid>
                    <a:gridCol w="648000">
                      <a:extLst>
                        <a:ext uri="{9D8B030D-6E8A-4147-A177-3AD203B41FA5}">
                          <a16:colId xmlns:a16="http://schemas.microsoft.com/office/drawing/2014/main" val="2402601773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1000514895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55719196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2366797465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437909728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593491381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624482732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149971278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855188310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264270260"/>
                        </a:ext>
                      </a:extLst>
                    </a:gridCol>
                    <a:gridCol w="568057">
                      <a:extLst>
                        <a:ext uri="{9D8B030D-6E8A-4147-A177-3AD203B41FA5}">
                          <a16:colId xmlns:a16="http://schemas.microsoft.com/office/drawing/2014/main" val="1789773732"/>
                        </a:ext>
                      </a:extLst>
                    </a:gridCol>
                  </a:tblGrid>
                  <a:tr h="51752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+2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+2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mpd="sng">
                          <a:noFill/>
                          <a:prstDash val="soli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2033857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2" name="Tableau 11">
                <a:extLst>
                  <a:ext uri="{FF2B5EF4-FFF2-40B4-BE49-F238E27FC236}">
                    <a16:creationId xmlns:a16="http://schemas.microsoft.com/office/drawing/2014/main" id="{E0D658FD-DC74-839F-7264-9B5F2D92CC1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24682234"/>
                  </p:ext>
                </p:extLst>
              </p:nvPr>
            </p:nvGraphicFramePr>
            <p:xfrm>
              <a:off x="2009107" y="4578575"/>
              <a:ext cx="7048057" cy="517526"/>
            </p:xfrm>
            <a:graphic>
              <a:graphicData uri="http://schemas.openxmlformats.org/drawingml/2006/table">
                <a:tbl>
                  <a:tblPr>
                    <a:effectLst>
                      <a:innerShdw blurRad="482600" dist="1257300">
                        <a:schemeClr val="bg1"/>
                      </a:innerShdw>
                    </a:effectLst>
                  </a:tblPr>
                  <a:tblGrid>
                    <a:gridCol w="648000">
                      <a:extLst>
                        <a:ext uri="{9D8B030D-6E8A-4147-A177-3AD203B41FA5}">
                          <a16:colId xmlns:a16="http://schemas.microsoft.com/office/drawing/2014/main" val="2402601773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1000514895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55719196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2366797465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437909728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593491381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624482732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149971278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855188310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264270260"/>
                        </a:ext>
                      </a:extLst>
                    </a:gridCol>
                    <a:gridCol w="568057">
                      <a:extLst>
                        <a:ext uri="{9D8B030D-6E8A-4147-A177-3AD203B41FA5}">
                          <a16:colId xmlns:a16="http://schemas.microsoft.com/office/drawing/2014/main" val="1789773732"/>
                        </a:ext>
                      </a:extLst>
                    </a:gridCol>
                  </a:tblGrid>
                  <a:tr h="51752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7"/>
                          <a:stretch>
                            <a:fillRect l="-100000" t="-2353" r="-884112" b="-47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7"/>
                          <a:stretch>
                            <a:fillRect l="-201887" t="-2353" r="-792453" b="-47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7"/>
                          <a:stretch>
                            <a:fillRect l="-301887" t="-2353" r="-692453" b="-47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7"/>
                          <a:stretch>
                            <a:fillRect l="-597196" t="-2353" r="-386916" b="-47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7"/>
                          <a:stretch>
                            <a:fillRect l="-703774" t="-2353" r="-290566" b="-47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7"/>
                          <a:stretch>
                            <a:fillRect l="-803774" t="-2353" r="-190566" b="-47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mpd="sng">
                          <a:noFill/>
                          <a:prstDash val="soli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20338573"/>
                      </a:ext>
                    </a:extLst>
                  </a:tr>
                </a:tbl>
              </a:graphicData>
            </a:graphic>
          </p:graphicFrame>
        </mc:Fallback>
      </mc:AlternateContent>
      <p:graphicFrame>
        <p:nvGraphicFramePr>
          <p:cNvPr id="13" name="Tableau 12">
            <a:extLst>
              <a:ext uri="{FF2B5EF4-FFF2-40B4-BE49-F238E27FC236}">
                <a16:creationId xmlns:a16="http://schemas.microsoft.com/office/drawing/2014/main" id="{85EF77B3-4009-A817-1C69-ABBB9459CE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6531737"/>
              </p:ext>
            </p:extLst>
          </p:nvPr>
        </p:nvGraphicFramePr>
        <p:xfrm>
          <a:off x="2009107" y="3361391"/>
          <a:ext cx="7048057" cy="517526"/>
        </p:xfrm>
        <a:graphic>
          <a:graphicData uri="http://schemas.openxmlformats.org/drawingml/2006/table">
            <a:tbl>
              <a:tblPr>
                <a:effectLst>
                  <a:innerShdw blurRad="419100" dist="596900" dir="2700000">
                    <a:schemeClr val="bg1"/>
                  </a:innerShdw>
                </a:effectLst>
              </a:tblPr>
              <a:tblGrid>
                <a:gridCol w="648000">
                  <a:extLst>
                    <a:ext uri="{9D8B030D-6E8A-4147-A177-3AD203B41FA5}">
                      <a16:colId xmlns:a16="http://schemas.microsoft.com/office/drawing/2014/main" val="2402601773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1000514895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355719196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366797465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3437909728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593491381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624482732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149971278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855188310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3264270260"/>
                    </a:ext>
                  </a:extLst>
                </a:gridCol>
                <a:gridCol w="568057">
                  <a:extLst>
                    <a:ext uri="{9D8B030D-6E8A-4147-A177-3AD203B41FA5}">
                      <a16:colId xmlns:a16="http://schemas.microsoft.com/office/drawing/2014/main" val="1789773732"/>
                    </a:ext>
                  </a:extLst>
                </a:gridCol>
              </a:tblGrid>
              <a:tr h="517526"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 anchor="ctr">
                    <a:lnL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T>
                    <a:lnB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 anchor="ctr">
                    <a:lnL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T>
                    <a:lnB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 anchor="ctr">
                    <a:lnL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T>
                    <a:lnB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 anchor="ctr">
                    <a:lnL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T>
                    <a:lnB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 anchor="ctr">
                    <a:lnL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T>
                    <a:lnB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 anchor="ctr">
                    <a:lnL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T>
                    <a:lnB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 anchor="ctr">
                    <a:lnL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T>
                    <a:lnB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 anchor="ctr">
                    <a:lnL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T>
                    <a:lnB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 anchor="ctr">
                    <a:lnL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T>
                    <a:lnB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 anchor="ctr">
                    <a:lnL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T>
                    <a:lnB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L>
                    <a:lnR w="19050" cmpd="sng">
                      <a:noFill/>
                      <a:prstDash val="solid"/>
                    </a:lnR>
                    <a:lnT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T>
                    <a:lnB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0338573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4" name="Tableau 13">
                <a:extLst>
                  <a:ext uri="{FF2B5EF4-FFF2-40B4-BE49-F238E27FC236}">
                    <a16:creationId xmlns:a16="http://schemas.microsoft.com/office/drawing/2014/main" id="{6339212C-69DC-507C-6CC3-350DBD69842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84887340"/>
                  </p:ext>
                </p:extLst>
              </p:nvPr>
            </p:nvGraphicFramePr>
            <p:xfrm>
              <a:off x="2015135" y="1499665"/>
              <a:ext cx="7048057" cy="517526"/>
            </p:xfrm>
            <a:graphic>
              <a:graphicData uri="http://schemas.openxmlformats.org/drawingml/2006/table">
                <a:tbl>
                  <a:tblPr>
                    <a:effectLst>
                      <a:innerShdw blurRad="482600" dist="1257300">
                        <a:schemeClr val="bg1"/>
                      </a:innerShdw>
                    </a:effectLst>
                  </a:tblPr>
                  <a:tblGrid>
                    <a:gridCol w="648000">
                      <a:extLst>
                        <a:ext uri="{9D8B030D-6E8A-4147-A177-3AD203B41FA5}">
                          <a16:colId xmlns:a16="http://schemas.microsoft.com/office/drawing/2014/main" val="2402601773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1000514895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55719196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2366797465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437909728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593491381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624482732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149971278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855188310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264270260"/>
                        </a:ext>
                      </a:extLst>
                    </a:gridCol>
                    <a:gridCol w="568057">
                      <a:extLst>
                        <a:ext uri="{9D8B030D-6E8A-4147-A177-3AD203B41FA5}">
                          <a16:colId xmlns:a16="http://schemas.microsoft.com/office/drawing/2014/main" val="1789773732"/>
                        </a:ext>
                      </a:extLst>
                    </a:gridCol>
                  </a:tblGrid>
                  <a:tr h="51752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+2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+2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mpd="sng">
                          <a:noFill/>
                          <a:prstDash val="soli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2033857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4" name="Tableau 13">
                <a:extLst>
                  <a:ext uri="{FF2B5EF4-FFF2-40B4-BE49-F238E27FC236}">
                    <a16:creationId xmlns:a16="http://schemas.microsoft.com/office/drawing/2014/main" id="{6339212C-69DC-507C-6CC3-350DBD69842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84887340"/>
                  </p:ext>
                </p:extLst>
              </p:nvPr>
            </p:nvGraphicFramePr>
            <p:xfrm>
              <a:off x="2015135" y="1499665"/>
              <a:ext cx="7048057" cy="517526"/>
            </p:xfrm>
            <a:graphic>
              <a:graphicData uri="http://schemas.openxmlformats.org/drawingml/2006/table">
                <a:tbl>
                  <a:tblPr>
                    <a:effectLst>
                      <a:innerShdw blurRad="482600" dist="1257300">
                        <a:schemeClr val="bg1"/>
                      </a:innerShdw>
                    </a:effectLst>
                  </a:tblPr>
                  <a:tblGrid>
                    <a:gridCol w="648000">
                      <a:extLst>
                        <a:ext uri="{9D8B030D-6E8A-4147-A177-3AD203B41FA5}">
                          <a16:colId xmlns:a16="http://schemas.microsoft.com/office/drawing/2014/main" val="2402601773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1000514895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55719196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2366797465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437909728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593491381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624482732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149971278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855188310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264270260"/>
                        </a:ext>
                      </a:extLst>
                    </a:gridCol>
                    <a:gridCol w="568057">
                      <a:extLst>
                        <a:ext uri="{9D8B030D-6E8A-4147-A177-3AD203B41FA5}">
                          <a16:colId xmlns:a16="http://schemas.microsoft.com/office/drawing/2014/main" val="1789773732"/>
                        </a:ext>
                      </a:extLst>
                    </a:gridCol>
                  </a:tblGrid>
                  <a:tr h="51752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8"/>
                          <a:stretch>
                            <a:fillRect l="-100000" t="-2353" r="-884112" b="-47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8"/>
                          <a:stretch>
                            <a:fillRect l="-201887" t="-2353" r="-792453" b="-47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8"/>
                          <a:stretch>
                            <a:fillRect l="-301887" t="-2353" r="-692453" b="-47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8"/>
                          <a:stretch>
                            <a:fillRect l="-597196" t="-2353" r="-386916" b="-47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8"/>
                          <a:stretch>
                            <a:fillRect l="-703774" t="-2353" r="-290566" b="-47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8"/>
                          <a:stretch>
                            <a:fillRect l="-803774" t="-2353" r="-190566" b="-47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mpd="sng">
                          <a:noFill/>
                          <a:prstDash val="soli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20338573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744560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1099</TotalTime>
  <Words>816</Words>
  <Application>Microsoft Office PowerPoint</Application>
  <PresentationFormat>Grand écran</PresentationFormat>
  <Paragraphs>179</Paragraphs>
  <Slides>7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7</vt:i4>
      </vt:variant>
    </vt:vector>
  </HeadingPairs>
  <TitlesOfParts>
    <vt:vector size="14" baseType="lpstr">
      <vt:lpstr>Arial</vt:lpstr>
      <vt:lpstr>Calibri</vt:lpstr>
      <vt:lpstr>Calibri Light</vt:lpstr>
      <vt:lpstr>Cambria</vt:lpstr>
      <vt:lpstr>Cambria Math</vt:lpstr>
      <vt:lpstr>Times New Roman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Barthélémi PETILLON</dc:creator>
  <cp:lastModifiedBy>PETILLON Barthelemi</cp:lastModifiedBy>
  <cp:revision>57</cp:revision>
  <dcterms:created xsi:type="dcterms:W3CDTF">2024-01-15T12:19:13Z</dcterms:created>
  <dcterms:modified xsi:type="dcterms:W3CDTF">2025-12-18T14:18:15Z</dcterms:modified>
</cp:coreProperties>
</file>